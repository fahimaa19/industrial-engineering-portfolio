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nton" charset="1" panose="00000500000000000000"/>
      <p:regular r:id="rId19"/>
    </p:embeddedFont>
    <p:embeddedFont>
      <p:font typeface="Leckerli One" charset="1" panose="02000503000000020003"/>
      <p:regular r:id="rId20"/>
    </p:embeddedFont>
    <p:embeddedFont>
      <p:font typeface="Glacial Indifference Bold" charset="1" panose="00000800000000000000"/>
      <p:regular r:id="rId21"/>
    </p:embeddedFont>
    <p:embeddedFont>
      <p:font typeface="Glacial Indifference" charset="1" panose="00000000000000000000"/>
      <p:regular r:id="rId22"/>
    </p:embeddedFont>
    <p:embeddedFont>
      <p:font typeface="Montserrat Bold" charset="1" panose="00000800000000000000"/>
      <p:regular r:id="rId23"/>
    </p:embeddedFont>
    <p:embeddedFont>
      <p:font typeface="Montserrat" charset="1" panose="00000500000000000000"/>
      <p:regular r:id="rId24"/>
    </p:embeddedFont>
    <p:embeddedFont>
      <p:font typeface="Bebas Neue Bold" charset="1" panose="020B0606020202050201"/>
      <p:regular r:id="rId25"/>
    </p:embeddedFont>
    <p:embeddedFont>
      <p:font typeface="Poppins" charset="1" panose="00000500000000000000"/>
      <p:regular r:id="rId26"/>
    </p:embeddedFont>
    <p:embeddedFont>
      <p:font typeface="Poppins Italics" charset="1" panose="00000500000000000000"/>
      <p:regular r:id="rId27"/>
    </p:embeddedFont>
    <p:embeddedFont>
      <p:font typeface="Glacial Indifference Italics" charset="1" panose="00000000000000000000"/>
      <p:regular r:id="rId28"/>
    </p:embeddedFont>
    <p:embeddedFont>
      <p:font typeface="Bebas Neue" charset="1" panose="00000500000000000000"/>
      <p:regular r:id="rId29"/>
    </p:embeddedFont>
    <p:embeddedFont>
      <p:font typeface="Impact" charset="1" panose="020B0806030902050204"/>
      <p:regular r:id="rId30"/>
    </p:embeddedFont>
    <p:embeddedFont>
      <p:font typeface="Buongiorno Rastellino" charset="1" panose="000005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12" Target="../media/image22.png" Type="http://schemas.openxmlformats.org/officeDocument/2006/relationships/image"/><Relationship Id="rId13" Target="../media/image23.png" Type="http://schemas.openxmlformats.org/officeDocument/2006/relationships/image"/><Relationship Id="rId14" Target="../media/image24.png" Type="http://schemas.openxmlformats.org/officeDocument/2006/relationships/image"/><Relationship Id="rId15" Target="../media/image25.pn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 Id="rId3" Target="../media/image29.png" Type="http://schemas.openxmlformats.org/officeDocument/2006/relationships/image"/><Relationship Id="rId4" Target="../media/image30.jpeg" Type="http://schemas.openxmlformats.org/officeDocument/2006/relationships/image"/><Relationship Id="rId5" Target="../media/image31.jpeg" Type="http://schemas.openxmlformats.org/officeDocument/2006/relationships/image"/><Relationship Id="rId6" Target="../media/image3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 Id="rId3" Target="../media/image34.jpeg" Type="http://schemas.openxmlformats.org/officeDocument/2006/relationships/image"/><Relationship Id="rId4" Target="../media/image3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37.jpeg" Type="http://schemas.openxmlformats.org/officeDocument/2006/relationships/image"/><Relationship Id="rId4" Target="../media/image38.jpeg" Type="http://schemas.openxmlformats.org/officeDocument/2006/relationships/image"/><Relationship Id="rId5" Target="../media/image39.jpeg" Type="http://schemas.openxmlformats.org/officeDocument/2006/relationships/image"/><Relationship Id="rId6" Target="../media/image40.jpeg" Type="http://schemas.openxmlformats.org/officeDocument/2006/relationships/image"/><Relationship Id="rId7" Target="../media/image4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43.jpeg" Type="http://schemas.openxmlformats.org/officeDocument/2006/relationships/image"/><Relationship Id="rId4" Target="../media/image44.jpeg" Type="http://schemas.openxmlformats.org/officeDocument/2006/relationships/image"/><Relationship Id="rId5" Target="../media/image45.png" Type="http://schemas.openxmlformats.org/officeDocument/2006/relationships/image"/><Relationship Id="rId6" Target="../media/image4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jpeg" Type="http://schemas.openxmlformats.org/officeDocument/2006/relationships/image"/><Relationship Id="rId2" Target="../media/image47.png" Type="http://schemas.openxmlformats.org/officeDocument/2006/relationships/image"/><Relationship Id="rId3" Target="../media/image48.png" Type="http://schemas.openxmlformats.org/officeDocument/2006/relationships/image"/><Relationship Id="rId4" Target="../media/image49.jpeg" Type="http://schemas.openxmlformats.org/officeDocument/2006/relationships/image"/><Relationship Id="rId5" Target="../media/image50.png" Type="http://schemas.openxmlformats.org/officeDocument/2006/relationships/image"/><Relationship Id="rId6" Target="../media/image51.jpeg" Type="http://schemas.openxmlformats.org/officeDocument/2006/relationships/image"/><Relationship Id="rId7" Target="../media/image52.jpeg" Type="http://schemas.openxmlformats.org/officeDocument/2006/relationships/image"/><Relationship Id="rId8" Target="../media/image53.png" Type="http://schemas.openxmlformats.org/officeDocument/2006/relationships/image"/><Relationship Id="rId9" Target="../media/image5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jpeg" Type="http://schemas.openxmlformats.org/officeDocument/2006/relationships/image"/><Relationship Id="rId11" Target="../media/image65.png" Type="http://schemas.openxmlformats.org/officeDocument/2006/relationships/image"/><Relationship Id="rId12" Target="../media/image66.jpeg" Type="http://schemas.openxmlformats.org/officeDocument/2006/relationships/image"/><Relationship Id="rId13" Target="../media/image67.jpeg" Type="http://schemas.openxmlformats.org/officeDocument/2006/relationships/image"/><Relationship Id="rId14" Target="https://p2mw.kemdiktisaintek.go.id/p2mw" TargetMode="External" Type="http://schemas.openxmlformats.org/officeDocument/2006/relationships/hyperlink"/><Relationship Id="rId15" Target="https://p2mw.kemdiktisaintek.go.id/p2mw" TargetMode="External" Type="http://schemas.openxmlformats.org/officeDocument/2006/relationships/hyperlink"/><Relationship Id="rId16" Target="https://p2mw.kemdiktisaintek.go.id/p2mw" TargetMode="External" Type="http://schemas.openxmlformats.org/officeDocument/2006/relationships/hyperlink"/><Relationship Id="rId2" Target="../media/image56.jpeg" Type="http://schemas.openxmlformats.org/officeDocument/2006/relationships/image"/><Relationship Id="rId3" Target="../media/image57.jpeg" Type="http://schemas.openxmlformats.org/officeDocument/2006/relationships/image"/><Relationship Id="rId4" Target="../media/image58.jpeg" Type="http://schemas.openxmlformats.org/officeDocument/2006/relationships/image"/><Relationship Id="rId5" Target="../media/image59.png" Type="http://schemas.openxmlformats.org/officeDocument/2006/relationships/image"/><Relationship Id="rId6" Target="../media/image60.png" Type="http://schemas.openxmlformats.org/officeDocument/2006/relationships/image"/><Relationship Id="rId7" Target="../media/image61.jpeg" Type="http://schemas.openxmlformats.org/officeDocument/2006/relationships/image"/><Relationship Id="rId8" Target="../media/image62.jpeg" Type="http://schemas.openxmlformats.org/officeDocument/2006/relationships/image"/><Relationship Id="rId9" Target="../media/image6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png" Type="http://schemas.openxmlformats.org/officeDocument/2006/relationships/image"/><Relationship Id="rId11" Target="../media/image76.svg" Type="http://schemas.openxmlformats.org/officeDocument/2006/relationships/image"/><Relationship Id="rId12" Target="https://www.instagram.com/reel/CWYGVZPp49Q_xYQ8jDGNuewACghfniAPbEq22w0/" TargetMode="External" Type="http://schemas.openxmlformats.org/officeDocument/2006/relationships/hyperlink"/><Relationship Id="rId13" Target="https://www.instagram.com/reel/CXdzuQJpocQ7rdVx8Q8Uphp4lp-T7730R28y3w0/" TargetMode="External" Type="http://schemas.openxmlformats.org/officeDocument/2006/relationships/hyperlink"/><Relationship Id="rId2" Target="../media/image68.jpeg" Type="http://schemas.openxmlformats.org/officeDocument/2006/relationships/image"/><Relationship Id="rId3" Target="../media/image69.jpeg" Type="http://schemas.openxmlformats.org/officeDocument/2006/relationships/image"/><Relationship Id="rId4" Target="../media/image70.jpeg" Type="http://schemas.openxmlformats.org/officeDocument/2006/relationships/image"/><Relationship Id="rId5" Target="../media/image71.jpeg" Type="http://schemas.openxmlformats.org/officeDocument/2006/relationships/image"/><Relationship Id="rId6" Target="../media/image72.jpeg" Type="http://schemas.openxmlformats.org/officeDocument/2006/relationships/image"/><Relationship Id="rId7" Target="../media/image73.jpeg" Type="http://schemas.openxmlformats.org/officeDocument/2006/relationships/image"/><Relationship Id="rId8" Target="../media/image74.png" Type="http://schemas.openxmlformats.org/officeDocument/2006/relationships/image"/><Relationship Id="rId9" Target="https://www.instagram.com/tv/CW0xbAWFYRsWTdX-9iGQjYHWOeinQAGA-vHwZw0/?rpxt=Ym0wM3B5eTBtMnBs"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4.png" Type="http://schemas.openxmlformats.org/officeDocument/2006/relationships/image"/><Relationship Id="rId2" Target="../media/image77.png" Type="http://schemas.openxmlformats.org/officeDocument/2006/relationships/image"/><Relationship Id="rId3" Target="../media/image78.png" Type="http://schemas.openxmlformats.org/officeDocument/2006/relationships/image"/><Relationship Id="rId4" Target="../media/image79.png" Type="http://schemas.openxmlformats.org/officeDocument/2006/relationships/image"/><Relationship Id="rId5" Target="../media/image80.png" Type="http://schemas.openxmlformats.org/officeDocument/2006/relationships/image"/><Relationship Id="rId6" Target="../media/image81.jpeg" Type="http://schemas.openxmlformats.org/officeDocument/2006/relationships/image"/><Relationship Id="rId7" Target="../media/image32.png" Type="http://schemas.openxmlformats.org/officeDocument/2006/relationships/image"/><Relationship Id="rId8" Target="../media/image82.png" Type="http://schemas.openxmlformats.org/officeDocument/2006/relationships/image"/><Relationship Id="rId9" Target="../media/image8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5.png" Type="http://schemas.openxmlformats.org/officeDocument/2006/relationships/image"/><Relationship Id="rId3" Target="../media/image86.png" Type="http://schemas.openxmlformats.org/officeDocument/2006/relationships/image"/><Relationship Id="rId4" Target="../media/image3.png" Type="http://schemas.openxmlformats.org/officeDocument/2006/relationships/image"/><Relationship Id="rId5" Target="../media/image87.png" Type="http://schemas.openxmlformats.org/officeDocument/2006/relationships/image"/><Relationship Id="rId6" Target="../media/image88.svg" Type="http://schemas.openxmlformats.org/officeDocument/2006/relationships/image"/><Relationship Id="rId7" Target="../media/image89.png" Type="http://schemas.openxmlformats.org/officeDocument/2006/relationships/image"/><Relationship Id="rId8" Target="../media/image9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602047" y="2378347"/>
            <a:ext cx="17083906" cy="5710976"/>
          </a:xfrm>
          <a:prstGeom prst="rect">
            <a:avLst/>
          </a:prstGeom>
        </p:spPr>
        <p:txBody>
          <a:bodyPr anchor="t" rtlCol="false" tIns="0" lIns="0" bIns="0" rIns="0">
            <a:spAutoFit/>
          </a:bodyPr>
          <a:lstStyle/>
          <a:p>
            <a:pPr algn="ctr">
              <a:lnSpc>
                <a:spcPts val="46763"/>
              </a:lnSpc>
              <a:spcBef>
                <a:spcPct val="0"/>
              </a:spcBef>
            </a:pPr>
            <a:r>
              <a:rPr lang="en-US" sz="33402">
                <a:solidFill>
                  <a:srgbClr val="242D4B"/>
                </a:solidFill>
                <a:latin typeface="Anton"/>
                <a:ea typeface="Anton"/>
                <a:cs typeface="Anton"/>
                <a:sym typeface="Anton"/>
              </a:rPr>
              <a:t>PORTFOLIO</a:t>
            </a:r>
          </a:p>
        </p:txBody>
      </p:sp>
      <p:sp>
        <p:nvSpPr>
          <p:cNvPr name="Freeform 3" id="3"/>
          <p:cNvSpPr/>
          <p:nvPr/>
        </p:nvSpPr>
        <p:spPr>
          <a:xfrm flipH="false" flipV="false" rot="0">
            <a:off x="-288567" y="-322046"/>
            <a:ext cx="2701493" cy="2701493"/>
          </a:xfrm>
          <a:custGeom>
            <a:avLst/>
            <a:gdLst/>
            <a:ahLst/>
            <a:cxnLst/>
            <a:rect r="r" b="b" t="t" l="l"/>
            <a:pathLst>
              <a:path h="2701493" w="2701493">
                <a:moveTo>
                  <a:pt x="0" y="0"/>
                </a:moveTo>
                <a:lnTo>
                  <a:pt x="2701493" y="0"/>
                </a:lnTo>
                <a:lnTo>
                  <a:pt x="2701493" y="2701492"/>
                </a:lnTo>
                <a:lnTo>
                  <a:pt x="0" y="2701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5908554" y="-322046"/>
            <a:ext cx="2701493" cy="2701493"/>
          </a:xfrm>
          <a:custGeom>
            <a:avLst/>
            <a:gdLst/>
            <a:ahLst/>
            <a:cxnLst/>
            <a:rect r="r" b="b" t="t" l="l"/>
            <a:pathLst>
              <a:path h="2701493" w="2701493">
                <a:moveTo>
                  <a:pt x="2701492" y="0"/>
                </a:moveTo>
                <a:lnTo>
                  <a:pt x="0" y="0"/>
                </a:lnTo>
                <a:lnTo>
                  <a:pt x="0" y="2701492"/>
                </a:lnTo>
                <a:lnTo>
                  <a:pt x="2701492" y="2701492"/>
                </a:lnTo>
                <a:lnTo>
                  <a:pt x="270149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602047" y="2378347"/>
            <a:ext cx="17083906" cy="5711092"/>
          </a:xfrm>
          <a:prstGeom prst="rect">
            <a:avLst/>
          </a:prstGeom>
        </p:spPr>
        <p:txBody>
          <a:bodyPr anchor="t" rtlCol="false" tIns="0" lIns="0" bIns="0" rIns="0">
            <a:spAutoFit/>
          </a:bodyPr>
          <a:lstStyle/>
          <a:p>
            <a:pPr algn="ctr">
              <a:lnSpc>
                <a:spcPts val="46763"/>
              </a:lnSpc>
              <a:spcBef>
                <a:spcPct val="0"/>
              </a:spcBef>
            </a:pPr>
            <a:r>
              <a:rPr lang="en-US" sz="33402">
                <a:solidFill>
                  <a:srgbClr val="242D4B"/>
                </a:solidFill>
                <a:latin typeface="Anton"/>
                <a:ea typeface="Anton"/>
                <a:cs typeface="Anton"/>
                <a:sym typeface="Anton"/>
              </a:rPr>
              <a:t>PORTFOLIO</a:t>
            </a:r>
          </a:p>
        </p:txBody>
      </p:sp>
      <p:sp>
        <p:nvSpPr>
          <p:cNvPr name="TextBox 6" id="6"/>
          <p:cNvSpPr txBox="true"/>
          <p:nvPr/>
        </p:nvSpPr>
        <p:spPr>
          <a:xfrm rot="0">
            <a:off x="12210429" y="7784524"/>
            <a:ext cx="4496411" cy="695961"/>
          </a:xfrm>
          <a:prstGeom prst="rect">
            <a:avLst/>
          </a:prstGeom>
        </p:spPr>
        <p:txBody>
          <a:bodyPr anchor="t" rtlCol="false" tIns="0" lIns="0" bIns="0" rIns="0">
            <a:spAutoFit/>
          </a:bodyPr>
          <a:lstStyle/>
          <a:p>
            <a:pPr algn="l">
              <a:lnSpc>
                <a:spcPts val="5739"/>
              </a:lnSpc>
              <a:spcBef>
                <a:spcPct val="0"/>
              </a:spcBef>
            </a:pPr>
            <a:r>
              <a:rPr lang="en-US" sz="4099">
                <a:solidFill>
                  <a:srgbClr val="242D4B"/>
                </a:solidFill>
                <a:latin typeface="Leckerli One"/>
                <a:ea typeface="Leckerli One"/>
                <a:cs typeface="Leckerli One"/>
                <a:sym typeface="Leckerli One"/>
              </a:rPr>
              <a:t>Fhahimatung,ST</a:t>
            </a:r>
          </a:p>
        </p:txBody>
      </p:sp>
      <p:sp>
        <p:nvSpPr>
          <p:cNvPr name="Freeform 7" id="7"/>
          <p:cNvSpPr/>
          <p:nvPr/>
        </p:nvSpPr>
        <p:spPr>
          <a:xfrm flipH="false" flipV="false" rot="0">
            <a:off x="4857474" y="0"/>
            <a:ext cx="7765913" cy="13223041"/>
          </a:xfrm>
          <a:custGeom>
            <a:avLst/>
            <a:gdLst/>
            <a:ahLst/>
            <a:cxnLst/>
            <a:rect r="r" b="b" t="t" l="l"/>
            <a:pathLst>
              <a:path h="13223041" w="7765913">
                <a:moveTo>
                  <a:pt x="0" y="0"/>
                </a:moveTo>
                <a:lnTo>
                  <a:pt x="7765913" y="0"/>
                </a:lnTo>
                <a:lnTo>
                  <a:pt x="7765913" y="13223041"/>
                </a:lnTo>
                <a:lnTo>
                  <a:pt x="0" y="13223041"/>
                </a:lnTo>
                <a:lnTo>
                  <a:pt x="0" y="0"/>
                </a:lnTo>
                <a:close/>
              </a:path>
            </a:pathLst>
          </a:custGeom>
          <a:blipFill>
            <a:blip r:embed="rId4"/>
            <a:stretch>
              <a:fillRect l="-6614" t="0" r="-6614" b="0"/>
            </a:stretch>
          </a:blipFill>
        </p:spPr>
      </p:sp>
      <p:sp>
        <p:nvSpPr>
          <p:cNvPr name="TextBox 8" id="8"/>
          <p:cNvSpPr txBox="true"/>
          <p:nvPr/>
        </p:nvSpPr>
        <p:spPr>
          <a:xfrm rot="0">
            <a:off x="1171274" y="2949847"/>
            <a:ext cx="4211263" cy="523875"/>
          </a:xfrm>
          <a:prstGeom prst="rect">
            <a:avLst/>
          </a:prstGeom>
        </p:spPr>
        <p:txBody>
          <a:bodyPr anchor="t" rtlCol="false" tIns="0" lIns="0" bIns="0" rIns="0">
            <a:spAutoFit/>
          </a:bodyPr>
          <a:lstStyle/>
          <a:p>
            <a:pPr algn="l">
              <a:lnSpc>
                <a:spcPts val="4200"/>
              </a:lnSpc>
              <a:spcBef>
                <a:spcPct val="0"/>
              </a:spcBef>
            </a:pPr>
            <a:r>
              <a:rPr lang="en-US" b="true" sz="3000">
                <a:solidFill>
                  <a:srgbClr val="242D4B"/>
                </a:solidFill>
                <a:latin typeface="Glacial Indifference Bold"/>
                <a:ea typeface="Glacial Indifference Bold"/>
                <a:cs typeface="Glacial Indifference Bold"/>
                <a:sym typeface="Glacial Indifference Bold"/>
              </a:rPr>
              <a:t>Industrial Engeneering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953426" y="-835602"/>
            <a:ext cx="7315200" cy="2335721"/>
          </a:xfrm>
          <a:custGeom>
            <a:avLst/>
            <a:gdLst/>
            <a:ahLst/>
            <a:cxnLst/>
            <a:rect r="r" b="b" t="t" l="l"/>
            <a:pathLst>
              <a:path h="2335721" w="7315200">
                <a:moveTo>
                  <a:pt x="0" y="0"/>
                </a:moveTo>
                <a:lnTo>
                  <a:pt x="7315200" y="0"/>
                </a:lnTo>
                <a:lnTo>
                  <a:pt x="7315200" y="2335721"/>
                </a:lnTo>
                <a:lnTo>
                  <a:pt x="0" y="2335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7033" y="7527058"/>
            <a:ext cx="7315200" cy="2335721"/>
          </a:xfrm>
          <a:custGeom>
            <a:avLst/>
            <a:gdLst/>
            <a:ahLst/>
            <a:cxnLst/>
            <a:rect r="r" b="b" t="t" l="l"/>
            <a:pathLst>
              <a:path h="2335721" w="7315200">
                <a:moveTo>
                  <a:pt x="0" y="0"/>
                </a:moveTo>
                <a:lnTo>
                  <a:pt x="7315200" y="0"/>
                </a:lnTo>
                <a:lnTo>
                  <a:pt x="7315200" y="2335721"/>
                </a:lnTo>
                <a:lnTo>
                  <a:pt x="0" y="2335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728017"/>
            <a:ext cx="7313533" cy="2223135"/>
          </a:xfrm>
          <a:prstGeom prst="rect">
            <a:avLst/>
          </a:prstGeom>
        </p:spPr>
        <p:txBody>
          <a:bodyPr anchor="t" rtlCol="false" tIns="0" lIns="0" bIns="0" rIns="0">
            <a:spAutoFit/>
          </a:bodyPr>
          <a:lstStyle/>
          <a:p>
            <a:pPr algn="just">
              <a:lnSpc>
                <a:spcPts val="2940"/>
              </a:lnSpc>
              <a:spcBef>
                <a:spcPct val="0"/>
              </a:spcBef>
            </a:pPr>
            <a:r>
              <a:rPr lang="en-US" sz="2100">
                <a:solidFill>
                  <a:srgbClr val="242D4B"/>
                </a:solidFill>
                <a:latin typeface="Glacial Indifference"/>
                <a:ea typeface="Glacial Indifference"/>
                <a:cs typeface="Glacial Indifference"/>
                <a:sym typeface="Glacial Indifference"/>
              </a:rPr>
              <a:t>Say</a:t>
            </a:r>
            <a:r>
              <a:rPr lang="en-US" sz="2100">
                <a:solidFill>
                  <a:srgbClr val="242D4B"/>
                </a:solidFill>
                <a:latin typeface="Glacial Indifference"/>
                <a:ea typeface="Glacial Indifference"/>
                <a:cs typeface="Glacial Indifference"/>
                <a:sym typeface="Glacial Indifference"/>
              </a:rPr>
              <a:t>a merupakan lulusan Teknik Industri yang memiliki minat pada bidang Quality Control, inspeksi lapangan, K3, analisis data, dan administrasi. Saya memiliki pengalaman dalam pengawasan proyek elektrifikasi desa, pemeriksaan lapangan, pemantauan keselamatan kerja, dokumentasi, serta penyusunan laporan administrasi.</a:t>
            </a:r>
          </a:p>
        </p:txBody>
      </p:sp>
      <p:sp>
        <p:nvSpPr>
          <p:cNvPr name="TextBox 5" id="5"/>
          <p:cNvSpPr txBox="true"/>
          <p:nvPr/>
        </p:nvSpPr>
        <p:spPr>
          <a:xfrm rot="0">
            <a:off x="1027033" y="5204257"/>
            <a:ext cx="7313533" cy="1480182"/>
          </a:xfrm>
          <a:prstGeom prst="rect">
            <a:avLst/>
          </a:prstGeom>
        </p:spPr>
        <p:txBody>
          <a:bodyPr anchor="t" rtlCol="false" tIns="0" lIns="0" bIns="0" rIns="0">
            <a:spAutoFit/>
          </a:bodyPr>
          <a:lstStyle/>
          <a:p>
            <a:pPr algn="just">
              <a:lnSpc>
                <a:spcPts val="2940"/>
              </a:lnSpc>
            </a:pPr>
            <a:r>
              <a:rPr lang="en-US" sz="2100">
                <a:solidFill>
                  <a:srgbClr val="242D4B"/>
                </a:solidFill>
                <a:latin typeface="Glacial Indifference"/>
                <a:ea typeface="Glacial Indifference"/>
                <a:cs typeface="Glacial Indifference"/>
                <a:sym typeface="Glacial Indifference"/>
              </a:rPr>
              <a:t>Saya adalah p</a:t>
            </a:r>
            <a:r>
              <a:rPr lang="en-US" sz="2100">
                <a:solidFill>
                  <a:srgbClr val="242D4B"/>
                </a:solidFill>
                <a:latin typeface="Glacial Indifference"/>
                <a:ea typeface="Glacial Indifference"/>
                <a:cs typeface="Glacial Indifference"/>
                <a:sym typeface="Glacial Indifference"/>
              </a:rPr>
              <a:t>ribadi yang teliti, adaptif, dan memiliki semangat belajar yang tinggi. Saya berkomitmen untuk berkontribusi dalam meningkatkan efisiensi operasional, menjaga kualitas pekerjaan, serta menciptakan lingkungan kerja yang aman.</a:t>
            </a:r>
          </a:p>
        </p:txBody>
      </p:sp>
      <p:sp>
        <p:nvSpPr>
          <p:cNvPr name="Freeform 6" id="6"/>
          <p:cNvSpPr/>
          <p:nvPr/>
        </p:nvSpPr>
        <p:spPr>
          <a:xfrm flipH="false" flipV="false" rot="0">
            <a:off x="7274930" y="-835602"/>
            <a:ext cx="11256450" cy="10813306"/>
          </a:xfrm>
          <a:custGeom>
            <a:avLst/>
            <a:gdLst/>
            <a:ahLst/>
            <a:cxnLst/>
            <a:rect r="r" b="b" t="t" l="l"/>
            <a:pathLst>
              <a:path h="10813306" w="11256450">
                <a:moveTo>
                  <a:pt x="0" y="0"/>
                </a:moveTo>
                <a:lnTo>
                  <a:pt x="11256450" y="0"/>
                </a:lnTo>
                <a:lnTo>
                  <a:pt x="11256450" y="10813306"/>
                </a:lnTo>
                <a:lnTo>
                  <a:pt x="0" y="10813306"/>
                </a:lnTo>
                <a:lnTo>
                  <a:pt x="0" y="0"/>
                </a:lnTo>
                <a:close/>
              </a:path>
            </a:pathLst>
          </a:custGeom>
          <a:blipFill>
            <a:blip r:embed="rId4"/>
            <a:stretch>
              <a:fillRect l="0" t="-28430" r="0" b="-28430"/>
            </a:stretch>
          </a:blipFill>
        </p:spPr>
      </p:sp>
      <p:grpSp>
        <p:nvGrpSpPr>
          <p:cNvPr name="Group 7" id="7"/>
          <p:cNvGrpSpPr/>
          <p:nvPr/>
        </p:nvGrpSpPr>
        <p:grpSpPr>
          <a:xfrm rot="0">
            <a:off x="626523" y="661517"/>
            <a:ext cx="16160834" cy="734367"/>
            <a:chOff x="0" y="0"/>
            <a:chExt cx="21547778" cy="979155"/>
          </a:xfrm>
        </p:grpSpPr>
        <p:grpSp>
          <p:nvGrpSpPr>
            <p:cNvPr name="Group 8" id="8"/>
            <p:cNvGrpSpPr/>
            <p:nvPr/>
          </p:nvGrpSpPr>
          <p:grpSpPr>
            <a:xfrm rot="0">
              <a:off x="0" y="0"/>
              <a:ext cx="21547778" cy="979155"/>
              <a:chOff x="0" y="0"/>
              <a:chExt cx="8943439" cy="406400"/>
            </a:xfrm>
          </p:grpSpPr>
          <p:sp>
            <p:nvSpPr>
              <p:cNvPr name="Freeform 9" id="9"/>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10" id="10"/>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About Me</a:t>
              </a:r>
            </a:p>
          </p:txBody>
        </p:sp>
        <p:sp>
          <p:nvSpPr>
            <p:cNvPr name="TextBox 12" id="12"/>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13" id="13"/>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Experiences</a:t>
              </a:r>
            </a:p>
          </p:txBody>
        </p:sp>
        <p:sp>
          <p:nvSpPr>
            <p:cNvPr name="TextBox 14" id="14"/>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15" id="15"/>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Skills</a:t>
              </a:r>
            </a:p>
          </p:txBody>
        </p:sp>
        <p:sp>
          <p:nvSpPr>
            <p:cNvPr name="TextBox 16" id="16"/>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Project</a:t>
              </a:r>
            </a:p>
          </p:txBody>
        </p:sp>
        <p:sp>
          <p:nvSpPr>
            <p:cNvPr name="TextBox 17" id="17"/>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18" id="18"/>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8419818" y="-6690642"/>
            <a:ext cx="12999616" cy="16977642"/>
          </a:xfrm>
          <a:custGeom>
            <a:avLst/>
            <a:gdLst/>
            <a:ahLst/>
            <a:cxnLst/>
            <a:rect r="r" b="b" t="t" l="l"/>
            <a:pathLst>
              <a:path h="16977642" w="12999616">
                <a:moveTo>
                  <a:pt x="0" y="0"/>
                </a:moveTo>
                <a:lnTo>
                  <a:pt x="12999616" y="0"/>
                </a:lnTo>
                <a:lnTo>
                  <a:pt x="12999616" y="16977642"/>
                </a:lnTo>
                <a:lnTo>
                  <a:pt x="0" y="16977642"/>
                </a:lnTo>
                <a:lnTo>
                  <a:pt x="0" y="0"/>
                </a:lnTo>
                <a:close/>
              </a:path>
            </a:pathLst>
          </a:custGeom>
          <a:blipFill>
            <a:blip r:embed="rId2"/>
            <a:stretch>
              <a:fillRect l="0" t="-1046" r="0" b="-1046"/>
            </a:stretch>
          </a:blipFill>
        </p:spPr>
      </p:sp>
      <p:grpSp>
        <p:nvGrpSpPr>
          <p:cNvPr name="Group 3" id="3"/>
          <p:cNvGrpSpPr/>
          <p:nvPr/>
        </p:nvGrpSpPr>
        <p:grpSpPr>
          <a:xfrm rot="0">
            <a:off x="339401" y="169862"/>
            <a:ext cx="16160834" cy="734367"/>
            <a:chOff x="0" y="0"/>
            <a:chExt cx="21547778" cy="979155"/>
          </a:xfrm>
        </p:grpSpPr>
        <p:grpSp>
          <p:nvGrpSpPr>
            <p:cNvPr name="Group 4" id="4"/>
            <p:cNvGrpSpPr/>
            <p:nvPr/>
          </p:nvGrpSpPr>
          <p:grpSpPr>
            <a:xfrm rot="0">
              <a:off x="0" y="0"/>
              <a:ext cx="21547778" cy="979155"/>
              <a:chOff x="0" y="0"/>
              <a:chExt cx="8943439" cy="406400"/>
            </a:xfrm>
          </p:grpSpPr>
          <p:sp>
            <p:nvSpPr>
              <p:cNvPr name="Freeform 5" id="5"/>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6" id="6"/>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8" id="8"/>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Education</a:t>
              </a:r>
            </a:p>
          </p:txBody>
        </p:sp>
        <p:sp>
          <p:nvSpPr>
            <p:cNvPr name="TextBox 9" id="9"/>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Experiences</a:t>
              </a:r>
            </a:p>
          </p:txBody>
        </p:sp>
        <p:sp>
          <p:nvSpPr>
            <p:cNvPr name="TextBox 10" id="10"/>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11" id="11"/>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Skills</a:t>
              </a:r>
            </a:p>
          </p:txBody>
        </p:sp>
        <p:sp>
          <p:nvSpPr>
            <p:cNvPr name="TextBox 12" id="12"/>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Project</a:t>
              </a:r>
            </a:p>
          </p:txBody>
        </p:sp>
        <p:sp>
          <p:nvSpPr>
            <p:cNvPr name="TextBox 13" id="13"/>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14" id="14"/>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grpSp>
        <p:nvGrpSpPr>
          <p:cNvPr name="Group 15" id="15"/>
          <p:cNvGrpSpPr/>
          <p:nvPr/>
        </p:nvGrpSpPr>
        <p:grpSpPr>
          <a:xfrm rot="0">
            <a:off x="499016" y="6137759"/>
            <a:ext cx="3269694" cy="326969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54459" y="0"/>
                  </a:moveTo>
                  <a:lnTo>
                    <a:pt x="758341" y="0"/>
                  </a:lnTo>
                  <a:cubicBezTo>
                    <a:pt x="788418" y="0"/>
                    <a:pt x="812800" y="24382"/>
                    <a:pt x="812800" y="54459"/>
                  </a:cubicBezTo>
                  <a:lnTo>
                    <a:pt x="812800" y="758341"/>
                  </a:lnTo>
                  <a:cubicBezTo>
                    <a:pt x="812800" y="788418"/>
                    <a:pt x="788418" y="812800"/>
                    <a:pt x="758341" y="812800"/>
                  </a:cubicBezTo>
                  <a:lnTo>
                    <a:pt x="54459" y="812800"/>
                  </a:lnTo>
                  <a:cubicBezTo>
                    <a:pt x="24382" y="812800"/>
                    <a:pt x="0" y="788418"/>
                    <a:pt x="0" y="758341"/>
                  </a:cubicBezTo>
                  <a:lnTo>
                    <a:pt x="0" y="54459"/>
                  </a:lnTo>
                  <a:cubicBezTo>
                    <a:pt x="0" y="24382"/>
                    <a:pt x="24382" y="0"/>
                    <a:pt x="54459" y="0"/>
                  </a:cubicBezTo>
                  <a:close/>
                </a:path>
              </a:pathLst>
            </a:custGeom>
            <a:blipFill>
              <a:blip r:embed="rId3"/>
              <a:stretch>
                <a:fillRect l="-24931" t="0" r="-24931" b="0"/>
              </a:stretch>
            </a:blipFill>
            <a:ln w="95250" cap="rnd">
              <a:solidFill>
                <a:srgbClr val="242D4B"/>
              </a:solidFill>
              <a:prstDash val="solid"/>
              <a:round/>
            </a:ln>
          </p:spPr>
        </p:sp>
      </p:grpSp>
      <p:grpSp>
        <p:nvGrpSpPr>
          <p:cNvPr name="Group 17" id="17"/>
          <p:cNvGrpSpPr/>
          <p:nvPr/>
        </p:nvGrpSpPr>
        <p:grpSpPr>
          <a:xfrm rot="0">
            <a:off x="3940147" y="6137759"/>
            <a:ext cx="3269694" cy="326969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54459" y="0"/>
                  </a:moveTo>
                  <a:lnTo>
                    <a:pt x="758341" y="0"/>
                  </a:lnTo>
                  <a:cubicBezTo>
                    <a:pt x="788418" y="0"/>
                    <a:pt x="812800" y="24382"/>
                    <a:pt x="812800" y="54459"/>
                  </a:cubicBezTo>
                  <a:lnTo>
                    <a:pt x="812800" y="758341"/>
                  </a:lnTo>
                  <a:cubicBezTo>
                    <a:pt x="812800" y="788418"/>
                    <a:pt x="788418" y="812800"/>
                    <a:pt x="758341" y="812800"/>
                  </a:cubicBezTo>
                  <a:lnTo>
                    <a:pt x="54459" y="812800"/>
                  </a:lnTo>
                  <a:cubicBezTo>
                    <a:pt x="24382" y="812800"/>
                    <a:pt x="0" y="788418"/>
                    <a:pt x="0" y="758341"/>
                  </a:cubicBezTo>
                  <a:lnTo>
                    <a:pt x="0" y="54459"/>
                  </a:lnTo>
                  <a:cubicBezTo>
                    <a:pt x="0" y="24382"/>
                    <a:pt x="24382" y="0"/>
                    <a:pt x="54459" y="0"/>
                  </a:cubicBezTo>
                  <a:close/>
                </a:path>
              </a:pathLst>
            </a:custGeom>
            <a:blipFill>
              <a:blip r:embed="rId4"/>
              <a:stretch>
                <a:fillRect l="0" t="-16666" r="0" b="-16666"/>
              </a:stretch>
            </a:blipFill>
            <a:ln w="95250" cap="rnd">
              <a:solidFill>
                <a:srgbClr val="242D4B"/>
              </a:solidFill>
              <a:prstDash val="solid"/>
              <a:round/>
            </a:ln>
          </p:spPr>
        </p:sp>
      </p:grpSp>
      <p:grpSp>
        <p:nvGrpSpPr>
          <p:cNvPr name="Group 19" id="19"/>
          <p:cNvGrpSpPr/>
          <p:nvPr/>
        </p:nvGrpSpPr>
        <p:grpSpPr>
          <a:xfrm rot="0">
            <a:off x="7381277" y="6137759"/>
            <a:ext cx="3269694" cy="326969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54459" y="0"/>
                  </a:moveTo>
                  <a:lnTo>
                    <a:pt x="758341" y="0"/>
                  </a:lnTo>
                  <a:cubicBezTo>
                    <a:pt x="788418" y="0"/>
                    <a:pt x="812800" y="24382"/>
                    <a:pt x="812800" y="54459"/>
                  </a:cubicBezTo>
                  <a:lnTo>
                    <a:pt x="812800" y="758341"/>
                  </a:lnTo>
                  <a:cubicBezTo>
                    <a:pt x="812800" y="788418"/>
                    <a:pt x="788418" y="812800"/>
                    <a:pt x="758341" y="812800"/>
                  </a:cubicBezTo>
                  <a:lnTo>
                    <a:pt x="54459" y="812800"/>
                  </a:lnTo>
                  <a:cubicBezTo>
                    <a:pt x="24382" y="812800"/>
                    <a:pt x="0" y="788418"/>
                    <a:pt x="0" y="758341"/>
                  </a:cubicBezTo>
                  <a:lnTo>
                    <a:pt x="0" y="54459"/>
                  </a:lnTo>
                  <a:cubicBezTo>
                    <a:pt x="0" y="24382"/>
                    <a:pt x="24382" y="0"/>
                    <a:pt x="54459" y="0"/>
                  </a:cubicBezTo>
                  <a:close/>
                </a:path>
              </a:pathLst>
            </a:custGeom>
            <a:blipFill>
              <a:blip r:embed="rId5"/>
              <a:stretch>
                <a:fillRect l="-16666" t="0" r="-16666" b="0"/>
              </a:stretch>
            </a:blipFill>
            <a:ln w="95250" cap="rnd">
              <a:solidFill>
                <a:srgbClr val="242D4B"/>
              </a:solidFill>
              <a:prstDash val="solid"/>
              <a:round/>
            </a:ln>
          </p:spPr>
        </p:sp>
      </p:grpSp>
      <p:grpSp>
        <p:nvGrpSpPr>
          <p:cNvPr name="Group 21" id="21"/>
          <p:cNvGrpSpPr/>
          <p:nvPr/>
        </p:nvGrpSpPr>
        <p:grpSpPr>
          <a:xfrm rot="0">
            <a:off x="10822408" y="6137759"/>
            <a:ext cx="3269694" cy="326969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54459" y="0"/>
                  </a:moveTo>
                  <a:lnTo>
                    <a:pt x="758341" y="0"/>
                  </a:lnTo>
                  <a:cubicBezTo>
                    <a:pt x="788418" y="0"/>
                    <a:pt x="812800" y="24382"/>
                    <a:pt x="812800" y="54459"/>
                  </a:cubicBezTo>
                  <a:lnTo>
                    <a:pt x="812800" y="758341"/>
                  </a:lnTo>
                  <a:cubicBezTo>
                    <a:pt x="812800" y="788418"/>
                    <a:pt x="788418" y="812800"/>
                    <a:pt x="758341" y="812800"/>
                  </a:cubicBezTo>
                  <a:lnTo>
                    <a:pt x="54459" y="812800"/>
                  </a:lnTo>
                  <a:cubicBezTo>
                    <a:pt x="24382" y="812800"/>
                    <a:pt x="0" y="788418"/>
                    <a:pt x="0" y="758341"/>
                  </a:cubicBezTo>
                  <a:lnTo>
                    <a:pt x="0" y="54459"/>
                  </a:lnTo>
                  <a:cubicBezTo>
                    <a:pt x="0" y="24382"/>
                    <a:pt x="24382" y="0"/>
                    <a:pt x="54459" y="0"/>
                  </a:cubicBezTo>
                  <a:close/>
                </a:path>
              </a:pathLst>
            </a:custGeom>
            <a:blipFill>
              <a:blip r:embed="rId6"/>
              <a:stretch>
                <a:fillRect l="0" t="-25187" r="0" b="-25187"/>
              </a:stretch>
            </a:blipFill>
            <a:ln w="95250" cap="rnd">
              <a:solidFill>
                <a:srgbClr val="242D4B"/>
              </a:solidFill>
              <a:prstDash val="solid"/>
              <a:round/>
            </a:ln>
          </p:spPr>
        </p:sp>
      </p:grpSp>
      <p:grpSp>
        <p:nvGrpSpPr>
          <p:cNvPr name="Group 23" id="23"/>
          <p:cNvGrpSpPr/>
          <p:nvPr/>
        </p:nvGrpSpPr>
        <p:grpSpPr>
          <a:xfrm rot="0">
            <a:off x="499016" y="1289880"/>
            <a:ext cx="9345124" cy="4466879"/>
            <a:chOff x="0" y="0"/>
            <a:chExt cx="12460165" cy="5955838"/>
          </a:xfrm>
        </p:grpSpPr>
        <p:sp>
          <p:nvSpPr>
            <p:cNvPr name="TextBox 24" id="24"/>
            <p:cNvSpPr txBox="true"/>
            <p:nvPr/>
          </p:nvSpPr>
          <p:spPr>
            <a:xfrm rot="0">
              <a:off x="0" y="95250"/>
              <a:ext cx="11596755" cy="1063724"/>
            </a:xfrm>
            <a:prstGeom prst="rect">
              <a:avLst/>
            </a:prstGeom>
          </p:spPr>
          <p:txBody>
            <a:bodyPr anchor="t" rtlCol="false" tIns="0" lIns="0" bIns="0" rIns="0">
              <a:spAutoFit/>
            </a:bodyPr>
            <a:lstStyle/>
            <a:p>
              <a:pPr algn="l">
                <a:lnSpc>
                  <a:spcPts val="5764"/>
                </a:lnSpc>
              </a:pPr>
              <a:r>
                <a:rPr lang="en-US" sz="5707" b="true">
                  <a:solidFill>
                    <a:srgbClr val="39251F"/>
                  </a:solidFill>
                  <a:latin typeface="Bebas Neue Bold"/>
                  <a:ea typeface="Bebas Neue Bold"/>
                  <a:cs typeface="Bebas Neue Bold"/>
                  <a:sym typeface="Bebas Neue Bold"/>
                </a:rPr>
                <a:t>BACHELOR (S1) INDUTRIAL ENGINEERING</a:t>
              </a:r>
            </a:p>
          </p:txBody>
        </p:sp>
        <p:sp>
          <p:nvSpPr>
            <p:cNvPr name="TextBox 25" id="25"/>
            <p:cNvSpPr txBox="true"/>
            <p:nvPr/>
          </p:nvSpPr>
          <p:spPr>
            <a:xfrm rot="0">
              <a:off x="0" y="2013684"/>
              <a:ext cx="12012793" cy="3942155"/>
            </a:xfrm>
            <a:prstGeom prst="rect">
              <a:avLst/>
            </a:prstGeom>
          </p:spPr>
          <p:txBody>
            <a:bodyPr anchor="t" rtlCol="false" tIns="0" lIns="0" bIns="0" rIns="0">
              <a:spAutoFit/>
            </a:bodyPr>
            <a:lstStyle/>
            <a:p>
              <a:pPr algn="l" marL="454439" indent="-227220" lvl="1">
                <a:lnSpc>
                  <a:spcPts val="2946"/>
                </a:lnSpc>
                <a:buFont typeface="Arial"/>
                <a:buChar char="•"/>
              </a:pPr>
              <a:r>
                <a:rPr lang="en-US" sz="2104">
                  <a:solidFill>
                    <a:srgbClr val="39251F"/>
                  </a:solidFill>
                  <a:latin typeface="Poppins"/>
                  <a:ea typeface="Poppins"/>
                  <a:cs typeface="Poppins"/>
                  <a:sym typeface="Poppins"/>
                </a:rPr>
                <a:t>GPA 3.76 / 4.0 September 2019—February 2023 (3,5 year) </a:t>
              </a:r>
            </a:p>
            <a:p>
              <a:pPr algn="l" marL="454439" indent="-227220" lvl="1">
                <a:lnSpc>
                  <a:spcPts val="2946"/>
                </a:lnSpc>
                <a:buFont typeface="Arial"/>
                <a:buChar char="•"/>
              </a:pPr>
              <a:r>
                <a:rPr lang="en-US" sz="2104">
                  <a:solidFill>
                    <a:srgbClr val="39251F"/>
                  </a:solidFill>
                  <a:latin typeface="Poppins"/>
                  <a:ea typeface="Poppins"/>
                  <a:cs typeface="Poppins"/>
                  <a:sym typeface="Poppins"/>
                </a:rPr>
                <a:t>Task En</a:t>
              </a:r>
              <a:r>
                <a:rPr lang="en-US" sz="2104">
                  <a:solidFill>
                    <a:srgbClr val="39251F"/>
                  </a:solidFill>
                  <a:latin typeface="Poppins"/>
                  <a:ea typeface="Poppins"/>
                  <a:cs typeface="Poppins"/>
                  <a:sym typeface="Poppins"/>
                </a:rPr>
                <a:t>d about Analysis Human Factor dan Perbandingan Efektivitas Dalam Metode Konvensional Aplikasi Kinesiotaping dan Motor Relearning Pragramme (MRP) Dengan Menggunakan Pendekatan Biomekanika. </a:t>
              </a:r>
            </a:p>
            <a:p>
              <a:pPr algn="l" marL="454439" indent="-227220" lvl="1">
                <a:lnSpc>
                  <a:spcPts val="2946"/>
                </a:lnSpc>
                <a:buFont typeface="Arial"/>
                <a:buChar char="•"/>
              </a:pPr>
              <a:r>
                <a:rPr lang="en-US" sz="2104">
                  <a:solidFill>
                    <a:srgbClr val="39251F"/>
                  </a:solidFill>
                  <a:latin typeface="Poppins"/>
                  <a:ea typeface="Poppins"/>
                  <a:cs typeface="Poppins"/>
                  <a:sym typeface="Poppins"/>
                </a:rPr>
                <a:t>Eye Studying Which relevant : Operations Research, Supply Chain Management, Quality Control, Lean Manufacturing, Simulation &amp; Modeling, Project Management.</a:t>
              </a:r>
            </a:p>
          </p:txBody>
        </p:sp>
        <p:sp>
          <p:nvSpPr>
            <p:cNvPr name="TextBox 26" id="26"/>
            <p:cNvSpPr txBox="true"/>
            <p:nvPr/>
          </p:nvSpPr>
          <p:spPr>
            <a:xfrm rot="0">
              <a:off x="0" y="882114"/>
              <a:ext cx="12460165" cy="515620"/>
            </a:xfrm>
            <a:prstGeom prst="rect">
              <a:avLst/>
            </a:prstGeom>
          </p:spPr>
          <p:txBody>
            <a:bodyPr anchor="t" rtlCol="false" tIns="0" lIns="0" bIns="0" rIns="0">
              <a:spAutoFit/>
            </a:bodyPr>
            <a:lstStyle/>
            <a:p>
              <a:pPr algn="l">
                <a:lnSpc>
                  <a:spcPts val="3360"/>
                </a:lnSpc>
              </a:pPr>
              <a:r>
                <a:rPr lang="en-US" sz="2400">
                  <a:solidFill>
                    <a:srgbClr val="39251F"/>
                  </a:solidFill>
                  <a:latin typeface="Montserrat"/>
                  <a:ea typeface="Montserrat"/>
                  <a:cs typeface="Montserrat"/>
                  <a:sym typeface="Montserrat"/>
                </a:rPr>
                <a:t>University</a:t>
              </a:r>
              <a:r>
                <a:rPr lang="en-US" sz="2400">
                  <a:solidFill>
                    <a:srgbClr val="39251F"/>
                  </a:solidFill>
                  <a:latin typeface="Montserrat"/>
                  <a:ea typeface="Montserrat"/>
                  <a:cs typeface="Montserrat"/>
                  <a:sym typeface="Montserrat"/>
                </a:rPr>
                <a:t> Muslim Indonesia, Makassar, Indonesia </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9401" y="169862"/>
            <a:ext cx="16160834" cy="734367"/>
            <a:chOff x="0" y="0"/>
            <a:chExt cx="21547778" cy="979155"/>
          </a:xfrm>
        </p:grpSpPr>
        <p:grpSp>
          <p:nvGrpSpPr>
            <p:cNvPr name="Group 3" id="3"/>
            <p:cNvGrpSpPr/>
            <p:nvPr/>
          </p:nvGrpSpPr>
          <p:grpSpPr>
            <a:xfrm rot="0">
              <a:off x="0" y="0"/>
              <a:ext cx="21547778" cy="979155"/>
              <a:chOff x="0" y="0"/>
              <a:chExt cx="8943439" cy="406400"/>
            </a:xfrm>
          </p:grpSpPr>
          <p:sp>
            <p:nvSpPr>
              <p:cNvPr name="Freeform 4" id="4"/>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5" id="5"/>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7" id="7"/>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8" id="8"/>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Experiences</a:t>
              </a:r>
            </a:p>
          </p:txBody>
        </p:sp>
        <p:sp>
          <p:nvSpPr>
            <p:cNvPr name="TextBox 9" id="9"/>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10" id="10"/>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Skills</a:t>
              </a:r>
            </a:p>
          </p:txBody>
        </p:sp>
        <p:sp>
          <p:nvSpPr>
            <p:cNvPr name="TextBox 11" id="11"/>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Project</a:t>
              </a:r>
            </a:p>
          </p:txBody>
        </p:sp>
        <p:sp>
          <p:nvSpPr>
            <p:cNvPr name="TextBox 12" id="12"/>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13" id="13"/>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grpSp>
        <p:nvGrpSpPr>
          <p:cNvPr name="Group 14" id="14"/>
          <p:cNvGrpSpPr/>
          <p:nvPr/>
        </p:nvGrpSpPr>
        <p:grpSpPr>
          <a:xfrm rot="0">
            <a:off x="8156422" y="2328706"/>
            <a:ext cx="2699917" cy="648729"/>
            <a:chOff x="0" y="0"/>
            <a:chExt cx="869324" cy="208879"/>
          </a:xfrm>
        </p:grpSpPr>
        <p:sp>
          <p:nvSpPr>
            <p:cNvPr name="Freeform 15" id="15"/>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16" id="16"/>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Quality Control &amp; Quality Assurance</a:t>
              </a:r>
            </a:p>
          </p:txBody>
        </p:sp>
      </p:grpSp>
      <p:grpSp>
        <p:nvGrpSpPr>
          <p:cNvPr name="Group 17" id="17"/>
          <p:cNvGrpSpPr/>
          <p:nvPr/>
        </p:nvGrpSpPr>
        <p:grpSpPr>
          <a:xfrm rot="0">
            <a:off x="8149049" y="1646766"/>
            <a:ext cx="2785467" cy="482557"/>
            <a:chOff x="0" y="0"/>
            <a:chExt cx="3713956" cy="643410"/>
          </a:xfrm>
        </p:grpSpPr>
        <p:sp>
          <p:nvSpPr>
            <p:cNvPr name="AutoShape 18" id="18"/>
            <p:cNvSpPr/>
            <p:nvPr/>
          </p:nvSpPr>
          <p:spPr>
            <a:xfrm flipH="true">
              <a:off x="9830" y="12700"/>
              <a:ext cx="402608" cy="492211"/>
            </a:xfrm>
            <a:prstGeom prst="line">
              <a:avLst/>
            </a:prstGeom>
            <a:ln cap="rnd" w="25400">
              <a:solidFill>
                <a:srgbClr val="000000"/>
              </a:solidFill>
              <a:prstDash val="solid"/>
              <a:headEnd type="none" len="sm" w="sm"/>
              <a:tailEnd type="oval" len="lg" w="lg"/>
            </a:ln>
          </p:spPr>
        </p:sp>
        <p:sp>
          <p:nvSpPr>
            <p:cNvPr name="AutoShape 19" id="19"/>
            <p:cNvSpPr/>
            <p:nvPr/>
          </p:nvSpPr>
          <p:spPr>
            <a:xfrm flipV="true">
              <a:off x="412438" y="12700"/>
              <a:ext cx="2175422" cy="10157"/>
            </a:xfrm>
            <a:prstGeom prst="line">
              <a:avLst/>
            </a:prstGeom>
            <a:ln cap="flat" w="25400">
              <a:solidFill>
                <a:srgbClr val="000000"/>
              </a:solidFill>
              <a:prstDash val="solid"/>
              <a:headEnd type="none" len="sm" w="sm"/>
              <a:tailEnd type="oval" len="lg" w="lg"/>
            </a:ln>
          </p:spPr>
        </p:sp>
        <p:sp>
          <p:nvSpPr>
            <p:cNvPr name="TextBox 20" id="20"/>
            <p:cNvSpPr txBox="true"/>
            <p:nvPr/>
          </p:nvSpPr>
          <p:spPr>
            <a:xfrm rot="0">
              <a:off x="361026" y="-29691"/>
              <a:ext cx="3352930" cy="673100"/>
            </a:xfrm>
            <a:prstGeom prst="rect">
              <a:avLst/>
            </a:prstGeom>
          </p:spPr>
          <p:txBody>
            <a:bodyPr anchor="t" rtlCol="false" tIns="0" lIns="0" bIns="0" rIns="0">
              <a:spAutoFit/>
            </a:bodyPr>
            <a:lstStyle/>
            <a:p>
              <a:pPr algn="l">
                <a:lnSpc>
                  <a:spcPts val="4199"/>
                </a:lnSpc>
              </a:pPr>
              <a:r>
                <a:rPr lang="en-US" sz="2999" i="true">
                  <a:solidFill>
                    <a:srgbClr val="39251F"/>
                  </a:solidFill>
                  <a:latin typeface="Poppins Italics"/>
                  <a:ea typeface="Poppins Italics"/>
                  <a:cs typeface="Poppins Italics"/>
                  <a:sym typeface="Poppins Italics"/>
                </a:rPr>
                <a:t>Hardskill</a:t>
              </a:r>
            </a:p>
          </p:txBody>
        </p:sp>
      </p:grpSp>
      <p:grpSp>
        <p:nvGrpSpPr>
          <p:cNvPr name="Group 21" id="21"/>
          <p:cNvGrpSpPr/>
          <p:nvPr/>
        </p:nvGrpSpPr>
        <p:grpSpPr>
          <a:xfrm rot="0">
            <a:off x="11051990" y="2328706"/>
            <a:ext cx="2699917" cy="648729"/>
            <a:chOff x="0" y="0"/>
            <a:chExt cx="869324" cy="208879"/>
          </a:xfrm>
        </p:grpSpPr>
        <p:sp>
          <p:nvSpPr>
            <p:cNvPr name="Freeform 22" id="22"/>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23" id="23"/>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Data Analysis &amp; Reporting</a:t>
              </a:r>
            </a:p>
          </p:txBody>
        </p:sp>
      </p:grpSp>
      <p:grpSp>
        <p:nvGrpSpPr>
          <p:cNvPr name="Group 24" id="24"/>
          <p:cNvGrpSpPr/>
          <p:nvPr/>
        </p:nvGrpSpPr>
        <p:grpSpPr>
          <a:xfrm rot="0">
            <a:off x="13951932" y="2328706"/>
            <a:ext cx="2699917" cy="648729"/>
            <a:chOff x="0" y="0"/>
            <a:chExt cx="869324" cy="208879"/>
          </a:xfrm>
        </p:grpSpPr>
        <p:sp>
          <p:nvSpPr>
            <p:cNvPr name="Freeform 25" id="25"/>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26" id="26"/>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Occupational Health &amp; Safety (K3)</a:t>
              </a:r>
            </a:p>
          </p:txBody>
        </p:sp>
      </p:grpSp>
      <p:grpSp>
        <p:nvGrpSpPr>
          <p:cNvPr name="Group 27" id="27"/>
          <p:cNvGrpSpPr/>
          <p:nvPr/>
        </p:nvGrpSpPr>
        <p:grpSpPr>
          <a:xfrm rot="0">
            <a:off x="8234600" y="3193754"/>
            <a:ext cx="2699917" cy="648729"/>
            <a:chOff x="0" y="0"/>
            <a:chExt cx="869324" cy="208879"/>
          </a:xfrm>
        </p:grpSpPr>
        <p:sp>
          <p:nvSpPr>
            <p:cNvPr name="Freeform 28" id="28"/>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29" id="29"/>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Production Planning &amp; Scheduling</a:t>
              </a:r>
            </a:p>
          </p:txBody>
        </p:sp>
      </p:grpSp>
      <p:grpSp>
        <p:nvGrpSpPr>
          <p:cNvPr name="Group 30" id="30"/>
          <p:cNvGrpSpPr/>
          <p:nvPr/>
        </p:nvGrpSpPr>
        <p:grpSpPr>
          <a:xfrm rot="0">
            <a:off x="8312777" y="4058802"/>
            <a:ext cx="2699917" cy="648729"/>
            <a:chOff x="0" y="0"/>
            <a:chExt cx="869324" cy="208879"/>
          </a:xfrm>
        </p:grpSpPr>
        <p:sp>
          <p:nvSpPr>
            <p:cNvPr name="Freeform 31" id="31"/>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32" id="32"/>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Supply Chain &amp; Inventory Management</a:t>
              </a:r>
            </a:p>
          </p:txBody>
        </p:sp>
      </p:grpSp>
      <p:grpSp>
        <p:nvGrpSpPr>
          <p:cNvPr name="Group 33" id="33"/>
          <p:cNvGrpSpPr/>
          <p:nvPr/>
        </p:nvGrpSpPr>
        <p:grpSpPr>
          <a:xfrm rot="0">
            <a:off x="11051990" y="3193754"/>
            <a:ext cx="2699917" cy="648729"/>
            <a:chOff x="0" y="0"/>
            <a:chExt cx="869324" cy="208879"/>
          </a:xfrm>
        </p:grpSpPr>
        <p:sp>
          <p:nvSpPr>
            <p:cNvPr name="Freeform 34" id="34"/>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35" id="35"/>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Process Improvement</a:t>
              </a:r>
            </a:p>
          </p:txBody>
        </p:sp>
      </p:grpSp>
      <p:grpSp>
        <p:nvGrpSpPr>
          <p:cNvPr name="Group 36" id="36"/>
          <p:cNvGrpSpPr/>
          <p:nvPr/>
        </p:nvGrpSpPr>
        <p:grpSpPr>
          <a:xfrm rot="0">
            <a:off x="11051990" y="4058802"/>
            <a:ext cx="2699917" cy="648729"/>
            <a:chOff x="0" y="0"/>
            <a:chExt cx="869324" cy="208879"/>
          </a:xfrm>
        </p:grpSpPr>
        <p:sp>
          <p:nvSpPr>
            <p:cNvPr name="Freeform 37" id="37"/>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38" id="38"/>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Project Administration &amp; Monitoring</a:t>
              </a:r>
            </a:p>
          </p:txBody>
        </p:sp>
      </p:grpSp>
      <p:grpSp>
        <p:nvGrpSpPr>
          <p:cNvPr name="Group 39" id="39"/>
          <p:cNvGrpSpPr/>
          <p:nvPr/>
        </p:nvGrpSpPr>
        <p:grpSpPr>
          <a:xfrm rot="0">
            <a:off x="13951932" y="3193754"/>
            <a:ext cx="2699917" cy="648729"/>
            <a:chOff x="0" y="0"/>
            <a:chExt cx="869324" cy="208879"/>
          </a:xfrm>
        </p:grpSpPr>
        <p:sp>
          <p:nvSpPr>
            <p:cNvPr name="Freeform 40" id="40"/>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41" id="41"/>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Field Inspection &amp; Documentation</a:t>
              </a:r>
            </a:p>
          </p:txBody>
        </p:sp>
      </p:grpSp>
      <p:grpSp>
        <p:nvGrpSpPr>
          <p:cNvPr name="Group 42" id="42"/>
          <p:cNvGrpSpPr/>
          <p:nvPr/>
        </p:nvGrpSpPr>
        <p:grpSpPr>
          <a:xfrm rot="0">
            <a:off x="8149049" y="4971493"/>
            <a:ext cx="2785467" cy="482557"/>
            <a:chOff x="0" y="0"/>
            <a:chExt cx="3713956" cy="643410"/>
          </a:xfrm>
        </p:grpSpPr>
        <p:sp>
          <p:nvSpPr>
            <p:cNvPr name="AutoShape 43" id="43"/>
            <p:cNvSpPr/>
            <p:nvPr/>
          </p:nvSpPr>
          <p:spPr>
            <a:xfrm flipH="true">
              <a:off x="9830" y="12700"/>
              <a:ext cx="402608" cy="492211"/>
            </a:xfrm>
            <a:prstGeom prst="line">
              <a:avLst/>
            </a:prstGeom>
            <a:ln cap="rnd" w="25400">
              <a:solidFill>
                <a:srgbClr val="000000"/>
              </a:solidFill>
              <a:prstDash val="solid"/>
              <a:headEnd type="none" len="sm" w="sm"/>
              <a:tailEnd type="oval" len="lg" w="lg"/>
            </a:ln>
          </p:spPr>
        </p:sp>
        <p:sp>
          <p:nvSpPr>
            <p:cNvPr name="AutoShape 44" id="44"/>
            <p:cNvSpPr/>
            <p:nvPr/>
          </p:nvSpPr>
          <p:spPr>
            <a:xfrm flipV="true">
              <a:off x="412438" y="12700"/>
              <a:ext cx="2175422" cy="10157"/>
            </a:xfrm>
            <a:prstGeom prst="line">
              <a:avLst/>
            </a:prstGeom>
            <a:ln cap="flat" w="25400">
              <a:solidFill>
                <a:srgbClr val="000000"/>
              </a:solidFill>
              <a:prstDash val="solid"/>
              <a:headEnd type="none" len="sm" w="sm"/>
              <a:tailEnd type="oval" len="lg" w="lg"/>
            </a:ln>
          </p:spPr>
        </p:sp>
        <p:sp>
          <p:nvSpPr>
            <p:cNvPr name="TextBox 45" id="45"/>
            <p:cNvSpPr txBox="true"/>
            <p:nvPr/>
          </p:nvSpPr>
          <p:spPr>
            <a:xfrm rot="0">
              <a:off x="361026" y="-29691"/>
              <a:ext cx="3352930" cy="673100"/>
            </a:xfrm>
            <a:prstGeom prst="rect">
              <a:avLst/>
            </a:prstGeom>
          </p:spPr>
          <p:txBody>
            <a:bodyPr anchor="t" rtlCol="false" tIns="0" lIns="0" bIns="0" rIns="0">
              <a:spAutoFit/>
            </a:bodyPr>
            <a:lstStyle/>
            <a:p>
              <a:pPr algn="l">
                <a:lnSpc>
                  <a:spcPts val="4199"/>
                </a:lnSpc>
              </a:pPr>
              <a:r>
                <a:rPr lang="en-US" sz="2999" i="true">
                  <a:solidFill>
                    <a:srgbClr val="39251F"/>
                  </a:solidFill>
                  <a:latin typeface="Poppins Italics"/>
                  <a:ea typeface="Poppins Italics"/>
                  <a:cs typeface="Poppins Italics"/>
                  <a:sym typeface="Poppins Italics"/>
                </a:rPr>
                <a:t>Softskill</a:t>
              </a:r>
            </a:p>
          </p:txBody>
        </p:sp>
      </p:grpSp>
      <p:grpSp>
        <p:nvGrpSpPr>
          <p:cNvPr name="Group 46" id="46"/>
          <p:cNvGrpSpPr/>
          <p:nvPr/>
        </p:nvGrpSpPr>
        <p:grpSpPr>
          <a:xfrm rot="0">
            <a:off x="8070871" y="8192748"/>
            <a:ext cx="2785467" cy="482557"/>
            <a:chOff x="0" y="0"/>
            <a:chExt cx="3713956" cy="643410"/>
          </a:xfrm>
        </p:grpSpPr>
        <p:sp>
          <p:nvSpPr>
            <p:cNvPr name="AutoShape 47" id="47"/>
            <p:cNvSpPr/>
            <p:nvPr/>
          </p:nvSpPr>
          <p:spPr>
            <a:xfrm flipH="true">
              <a:off x="9830" y="12700"/>
              <a:ext cx="402608" cy="492211"/>
            </a:xfrm>
            <a:prstGeom prst="line">
              <a:avLst/>
            </a:prstGeom>
            <a:ln cap="rnd" w="25400">
              <a:solidFill>
                <a:srgbClr val="000000"/>
              </a:solidFill>
              <a:prstDash val="solid"/>
              <a:headEnd type="none" len="sm" w="sm"/>
              <a:tailEnd type="oval" len="lg" w="lg"/>
            </a:ln>
          </p:spPr>
        </p:sp>
        <p:sp>
          <p:nvSpPr>
            <p:cNvPr name="AutoShape 48" id="48"/>
            <p:cNvSpPr/>
            <p:nvPr/>
          </p:nvSpPr>
          <p:spPr>
            <a:xfrm flipV="true">
              <a:off x="412438" y="12700"/>
              <a:ext cx="2175422" cy="10157"/>
            </a:xfrm>
            <a:prstGeom prst="line">
              <a:avLst/>
            </a:prstGeom>
            <a:ln cap="flat" w="25400">
              <a:solidFill>
                <a:srgbClr val="000000"/>
              </a:solidFill>
              <a:prstDash val="solid"/>
              <a:headEnd type="none" len="sm" w="sm"/>
              <a:tailEnd type="oval" len="lg" w="lg"/>
            </a:ln>
          </p:spPr>
        </p:sp>
        <p:sp>
          <p:nvSpPr>
            <p:cNvPr name="TextBox 49" id="49"/>
            <p:cNvSpPr txBox="true"/>
            <p:nvPr/>
          </p:nvSpPr>
          <p:spPr>
            <a:xfrm rot="0">
              <a:off x="361026" y="-29691"/>
              <a:ext cx="3352930" cy="673100"/>
            </a:xfrm>
            <a:prstGeom prst="rect">
              <a:avLst/>
            </a:prstGeom>
          </p:spPr>
          <p:txBody>
            <a:bodyPr anchor="t" rtlCol="false" tIns="0" lIns="0" bIns="0" rIns="0">
              <a:spAutoFit/>
            </a:bodyPr>
            <a:lstStyle/>
            <a:p>
              <a:pPr algn="l">
                <a:lnSpc>
                  <a:spcPts val="4199"/>
                </a:lnSpc>
              </a:pPr>
              <a:r>
                <a:rPr lang="en-US" sz="2999" i="true">
                  <a:solidFill>
                    <a:srgbClr val="39251F"/>
                  </a:solidFill>
                  <a:latin typeface="Poppins Italics"/>
                  <a:ea typeface="Poppins Italics"/>
                  <a:cs typeface="Poppins Italics"/>
                  <a:sym typeface="Poppins Italics"/>
                </a:rPr>
                <a:t>Software</a:t>
              </a:r>
            </a:p>
          </p:txBody>
        </p:sp>
      </p:grpSp>
      <p:grpSp>
        <p:nvGrpSpPr>
          <p:cNvPr name="Group 50" id="50"/>
          <p:cNvGrpSpPr/>
          <p:nvPr/>
        </p:nvGrpSpPr>
        <p:grpSpPr>
          <a:xfrm rot="0">
            <a:off x="8419818" y="5492485"/>
            <a:ext cx="2699917" cy="648729"/>
            <a:chOff x="0" y="0"/>
            <a:chExt cx="869324" cy="208879"/>
          </a:xfrm>
        </p:grpSpPr>
        <p:sp>
          <p:nvSpPr>
            <p:cNvPr name="Freeform 51" id="51"/>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52" id="52"/>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Analytical Thinking</a:t>
              </a:r>
            </a:p>
          </p:txBody>
        </p:sp>
      </p:grpSp>
      <p:grpSp>
        <p:nvGrpSpPr>
          <p:cNvPr name="Group 53" id="53"/>
          <p:cNvGrpSpPr/>
          <p:nvPr/>
        </p:nvGrpSpPr>
        <p:grpSpPr>
          <a:xfrm rot="0">
            <a:off x="11315387" y="5492485"/>
            <a:ext cx="2699917" cy="648729"/>
            <a:chOff x="0" y="0"/>
            <a:chExt cx="869324" cy="208879"/>
          </a:xfrm>
        </p:grpSpPr>
        <p:sp>
          <p:nvSpPr>
            <p:cNvPr name="Freeform 54" id="54"/>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55" id="55"/>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Teamwork &amp; Collaboration</a:t>
              </a:r>
            </a:p>
          </p:txBody>
        </p:sp>
      </p:grpSp>
      <p:grpSp>
        <p:nvGrpSpPr>
          <p:cNvPr name="Group 56" id="56"/>
          <p:cNvGrpSpPr/>
          <p:nvPr/>
        </p:nvGrpSpPr>
        <p:grpSpPr>
          <a:xfrm rot="0">
            <a:off x="14215328" y="5454050"/>
            <a:ext cx="2699917" cy="648729"/>
            <a:chOff x="0" y="0"/>
            <a:chExt cx="869324" cy="208879"/>
          </a:xfrm>
        </p:grpSpPr>
        <p:sp>
          <p:nvSpPr>
            <p:cNvPr name="Freeform 57" id="57"/>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58" id="58"/>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Adaptability</a:t>
              </a:r>
            </a:p>
          </p:txBody>
        </p:sp>
      </p:grpSp>
      <p:grpSp>
        <p:nvGrpSpPr>
          <p:cNvPr name="Group 59" id="59"/>
          <p:cNvGrpSpPr/>
          <p:nvPr/>
        </p:nvGrpSpPr>
        <p:grpSpPr>
          <a:xfrm rot="0">
            <a:off x="8497996" y="6357534"/>
            <a:ext cx="2699917" cy="648729"/>
            <a:chOff x="0" y="0"/>
            <a:chExt cx="869324" cy="208879"/>
          </a:xfrm>
        </p:grpSpPr>
        <p:sp>
          <p:nvSpPr>
            <p:cNvPr name="Freeform 60" id="60"/>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61" id="61"/>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Problem-Solving</a:t>
              </a:r>
            </a:p>
          </p:txBody>
        </p:sp>
      </p:grpSp>
      <p:grpSp>
        <p:nvGrpSpPr>
          <p:cNvPr name="Group 62" id="62"/>
          <p:cNvGrpSpPr/>
          <p:nvPr/>
        </p:nvGrpSpPr>
        <p:grpSpPr>
          <a:xfrm rot="0">
            <a:off x="8576174" y="7222582"/>
            <a:ext cx="2699917" cy="648729"/>
            <a:chOff x="0" y="0"/>
            <a:chExt cx="869324" cy="208879"/>
          </a:xfrm>
        </p:grpSpPr>
        <p:sp>
          <p:nvSpPr>
            <p:cNvPr name="Freeform 63" id="63"/>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64" id="64"/>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Communication</a:t>
              </a:r>
            </a:p>
          </p:txBody>
        </p:sp>
      </p:grpSp>
      <p:grpSp>
        <p:nvGrpSpPr>
          <p:cNvPr name="Group 65" id="65"/>
          <p:cNvGrpSpPr/>
          <p:nvPr/>
        </p:nvGrpSpPr>
        <p:grpSpPr>
          <a:xfrm rot="0">
            <a:off x="11315387" y="6357534"/>
            <a:ext cx="2699917" cy="648729"/>
            <a:chOff x="0" y="0"/>
            <a:chExt cx="869324" cy="208879"/>
          </a:xfrm>
        </p:grpSpPr>
        <p:sp>
          <p:nvSpPr>
            <p:cNvPr name="Freeform 66" id="66"/>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67" id="67"/>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Attention to Detail</a:t>
              </a:r>
            </a:p>
          </p:txBody>
        </p:sp>
      </p:grpSp>
      <p:grpSp>
        <p:nvGrpSpPr>
          <p:cNvPr name="Group 68" id="68"/>
          <p:cNvGrpSpPr/>
          <p:nvPr/>
        </p:nvGrpSpPr>
        <p:grpSpPr>
          <a:xfrm rot="0">
            <a:off x="11315387" y="7222582"/>
            <a:ext cx="2699917" cy="648729"/>
            <a:chOff x="0" y="0"/>
            <a:chExt cx="869324" cy="208879"/>
          </a:xfrm>
        </p:grpSpPr>
        <p:sp>
          <p:nvSpPr>
            <p:cNvPr name="Freeform 69" id="69"/>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70" id="70"/>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Time Management</a:t>
              </a:r>
            </a:p>
          </p:txBody>
        </p:sp>
      </p:grpSp>
      <p:grpSp>
        <p:nvGrpSpPr>
          <p:cNvPr name="Group 71" id="71"/>
          <p:cNvGrpSpPr/>
          <p:nvPr/>
        </p:nvGrpSpPr>
        <p:grpSpPr>
          <a:xfrm rot="0">
            <a:off x="14215328" y="6357534"/>
            <a:ext cx="2699917" cy="648729"/>
            <a:chOff x="0" y="0"/>
            <a:chExt cx="869324" cy="208879"/>
          </a:xfrm>
        </p:grpSpPr>
        <p:sp>
          <p:nvSpPr>
            <p:cNvPr name="Freeform 72" id="72"/>
            <p:cNvSpPr/>
            <p:nvPr/>
          </p:nvSpPr>
          <p:spPr>
            <a:xfrm flipH="false" flipV="false" rot="0">
              <a:off x="0" y="0"/>
              <a:ext cx="869324" cy="208879"/>
            </a:xfrm>
            <a:custGeom>
              <a:avLst/>
              <a:gdLst/>
              <a:ahLst/>
              <a:cxnLst/>
              <a:rect r="r" b="b" t="t" l="l"/>
              <a:pathLst>
                <a:path h="208879" w="869324">
                  <a:moveTo>
                    <a:pt x="666124" y="0"/>
                  </a:moveTo>
                  <a:cubicBezTo>
                    <a:pt x="778348" y="0"/>
                    <a:pt x="869324" y="46759"/>
                    <a:pt x="869324" y="104439"/>
                  </a:cubicBezTo>
                  <a:cubicBezTo>
                    <a:pt x="869324" y="162120"/>
                    <a:pt x="778348" y="208879"/>
                    <a:pt x="666124" y="208879"/>
                  </a:cubicBezTo>
                  <a:lnTo>
                    <a:pt x="203200" y="208879"/>
                  </a:lnTo>
                  <a:cubicBezTo>
                    <a:pt x="90976" y="208879"/>
                    <a:pt x="0" y="162120"/>
                    <a:pt x="0" y="104439"/>
                  </a:cubicBezTo>
                  <a:cubicBezTo>
                    <a:pt x="0" y="46759"/>
                    <a:pt x="90976" y="0"/>
                    <a:pt x="203200" y="0"/>
                  </a:cubicBezTo>
                  <a:close/>
                </a:path>
              </a:pathLst>
            </a:custGeom>
            <a:solidFill>
              <a:srgbClr val="FFC2C2"/>
            </a:solidFill>
          </p:spPr>
        </p:sp>
        <p:sp>
          <p:nvSpPr>
            <p:cNvPr name="TextBox 73" id="73"/>
            <p:cNvSpPr txBox="true"/>
            <p:nvPr/>
          </p:nvSpPr>
          <p:spPr>
            <a:xfrm>
              <a:off x="0" y="-28575"/>
              <a:ext cx="869324" cy="237454"/>
            </a:xfrm>
            <a:prstGeom prst="rect">
              <a:avLst/>
            </a:prstGeom>
          </p:spPr>
          <p:txBody>
            <a:bodyPr anchor="ctr" rtlCol="false" tIns="50800" lIns="50800" bIns="50800" rIns="50800"/>
            <a:lstStyle/>
            <a:p>
              <a:pPr algn="ctr">
                <a:lnSpc>
                  <a:spcPts val="1960"/>
                </a:lnSpc>
              </a:pPr>
              <a:r>
                <a:rPr lang="en-US" sz="1400">
                  <a:solidFill>
                    <a:srgbClr val="000000"/>
                  </a:solidFill>
                  <a:latin typeface="Montserrat"/>
                  <a:ea typeface="Montserrat"/>
                  <a:cs typeface="Montserrat"/>
                  <a:sym typeface="Montserrat"/>
                </a:rPr>
                <a:t>Coordination &amp; Organization</a:t>
              </a:r>
            </a:p>
          </p:txBody>
        </p:sp>
      </p:grpSp>
      <p:sp>
        <p:nvSpPr>
          <p:cNvPr name="Freeform 74" id="74"/>
          <p:cNvSpPr/>
          <p:nvPr/>
        </p:nvSpPr>
        <p:spPr>
          <a:xfrm flipH="false" flipV="false" rot="0">
            <a:off x="9691441" y="8834667"/>
            <a:ext cx="1428294" cy="289230"/>
          </a:xfrm>
          <a:custGeom>
            <a:avLst/>
            <a:gdLst/>
            <a:ahLst/>
            <a:cxnLst/>
            <a:rect r="r" b="b" t="t" l="l"/>
            <a:pathLst>
              <a:path h="289230" w="1428294">
                <a:moveTo>
                  <a:pt x="0" y="0"/>
                </a:moveTo>
                <a:lnTo>
                  <a:pt x="1428294" y="0"/>
                </a:lnTo>
                <a:lnTo>
                  <a:pt x="1428294" y="289230"/>
                </a:lnTo>
                <a:lnTo>
                  <a:pt x="0" y="289230"/>
                </a:lnTo>
                <a:lnTo>
                  <a:pt x="0" y="0"/>
                </a:lnTo>
                <a:close/>
              </a:path>
            </a:pathLst>
          </a:custGeom>
          <a:blipFill>
            <a:blip r:embed="rId2"/>
            <a:stretch>
              <a:fillRect l="0" t="0" r="0" b="0"/>
            </a:stretch>
          </a:blipFill>
        </p:spPr>
      </p:sp>
      <p:grpSp>
        <p:nvGrpSpPr>
          <p:cNvPr name="Group 75" id="75"/>
          <p:cNvGrpSpPr/>
          <p:nvPr/>
        </p:nvGrpSpPr>
        <p:grpSpPr>
          <a:xfrm rot="0">
            <a:off x="8497996" y="8825479"/>
            <a:ext cx="1014195" cy="596834"/>
            <a:chOff x="0" y="0"/>
            <a:chExt cx="1352260" cy="795779"/>
          </a:xfrm>
        </p:grpSpPr>
        <p:sp>
          <p:nvSpPr>
            <p:cNvPr name="Freeform 76" id="76"/>
            <p:cNvSpPr/>
            <p:nvPr/>
          </p:nvSpPr>
          <p:spPr>
            <a:xfrm flipH="false" flipV="false" rot="0">
              <a:off x="0" y="0"/>
              <a:ext cx="1352260" cy="252704"/>
            </a:xfrm>
            <a:custGeom>
              <a:avLst/>
              <a:gdLst/>
              <a:ahLst/>
              <a:cxnLst/>
              <a:rect r="r" b="b" t="t" l="l"/>
              <a:pathLst>
                <a:path h="252704" w="1352260">
                  <a:moveTo>
                    <a:pt x="0" y="0"/>
                  </a:moveTo>
                  <a:lnTo>
                    <a:pt x="1352260" y="0"/>
                  </a:lnTo>
                  <a:lnTo>
                    <a:pt x="1352260" y="252704"/>
                  </a:lnTo>
                  <a:lnTo>
                    <a:pt x="0" y="252704"/>
                  </a:lnTo>
                  <a:lnTo>
                    <a:pt x="0" y="0"/>
                  </a:lnTo>
                  <a:close/>
                </a:path>
              </a:pathLst>
            </a:custGeom>
            <a:blipFill>
              <a:blip r:embed="rId3"/>
              <a:stretch>
                <a:fillRect l="0" t="0" r="0" b="0"/>
              </a:stretch>
            </a:blipFill>
          </p:spPr>
        </p:sp>
        <p:sp>
          <p:nvSpPr>
            <p:cNvPr name="Freeform 77" id="77"/>
            <p:cNvSpPr/>
            <p:nvPr/>
          </p:nvSpPr>
          <p:spPr>
            <a:xfrm flipH="false" flipV="false" rot="0">
              <a:off x="816348" y="378568"/>
              <a:ext cx="342147" cy="342147"/>
            </a:xfrm>
            <a:custGeom>
              <a:avLst/>
              <a:gdLst/>
              <a:ahLst/>
              <a:cxnLst/>
              <a:rect r="r" b="b" t="t" l="l"/>
              <a:pathLst>
                <a:path h="342147" w="342147">
                  <a:moveTo>
                    <a:pt x="0" y="0"/>
                  </a:moveTo>
                  <a:lnTo>
                    <a:pt x="342147" y="0"/>
                  </a:lnTo>
                  <a:lnTo>
                    <a:pt x="342147" y="342147"/>
                  </a:lnTo>
                  <a:lnTo>
                    <a:pt x="0" y="342147"/>
                  </a:lnTo>
                  <a:lnTo>
                    <a:pt x="0" y="0"/>
                  </a:lnTo>
                  <a:close/>
                </a:path>
              </a:pathLst>
            </a:custGeom>
            <a:blipFill>
              <a:blip r:embed="rId4"/>
              <a:stretch>
                <a:fillRect l="0" t="0" r="0" b="0"/>
              </a:stretch>
            </a:blipFill>
          </p:spPr>
        </p:sp>
        <p:sp>
          <p:nvSpPr>
            <p:cNvPr name="Freeform 78" id="78"/>
            <p:cNvSpPr/>
            <p:nvPr/>
          </p:nvSpPr>
          <p:spPr>
            <a:xfrm flipH="false" flipV="false" rot="0">
              <a:off x="412258" y="303504"/>
              <a:ext cx="492276" cy="492276"/>
            </a:xfrm>
            <a:custGeom>
              <a:avLst/>
              <a:gdLst/>
              <a:ahLst/>
              <a:cxnLst/>
              <a:rect r="r" b="b" t="t" l="l"/>
              <a:pathLst>
                <a:path h="492276" w="492276">
                  <a:moveTo>
                    <a:pt x="0" y="0"/>
                  </a:moveTo>
                  <a:lnTo>
                    <a:pt x="492276" y="0"/>
                  </a:lnTo>
                  <a:lnTo>
                    <a:pt x="492276" y="492275"/>
                  </a:lnTo>
                  <a:lnTo>
                    <a:pt x="0" y="492275"/>
                  </a:lnTo>
                  <a:lnTo>
                    <a:pt x="0" y="0"/>
                  </a:lnTo>
                  <a:close/>
                </a:path>
              </a:pathLst>
            </a:custGeom>
            <a:blipFill>
              <a:blip r:embed="rId5"/>
              <a:stretch>
                <a:fillRect l="0" t="0" r="0" b="0"/>
              </a:stretch>
            </a:blipFill>
          </p:spPr>
        </p:sp>
        <p:sp>
          <p:nvSpPr>
            <p:cNvPr name="Freeform 79" id="79"/>
            <p:cNvSpPr/>
            <p:nvPr/>
          </p:nvSpPr>
          <p:spPr>
            <a:xfrm flipH="false" flipV="false" rot="0">
              <a:off x="193765" y="410820"/>
              <a:ext cx="313359" cy="277643"/>
            </a:xfrm>
            <a:custGeom>
              <a:avLst/>
              <a:gdLst/>
              <a:ahLst/>
              <a:cxnLst/>
              <a:rect r="r" b="b" t="t" l="l"/>
              <a:pathLst>
                <a:path h="277643" w="313359">
                  <a:moveTo>
                    <a:pt x="0" y="0"/>
                  </a:moveTo>
                  <a:lnTo>
                    <a:pt x="313359" y="0"/>
                  </a:lnTo>
                  <a:lnTo>
                    <a:pt x="313359" y="277643"/>
                  </a:lnTo>
                  <a:lnTo>
                    <a:pt x="0" y="277643"/>
                  </a:lnTo>
                  <a:lnTo>
                    <a:pt x="0" y="0"/>
                  </a:lnTo>
                  <a:close/>
                </a:path>
              </a:pathLst>
            </a:custGeom>
            <a:blipFill>
              <a:blip r:embed="rId6"/>
              <a:stretch>
                <a:fillRect l="0" t="0" r="0" b="0"/>
              </a:stretch>
            </a:blipFill>
          </p:spPr>
        </p:sp>
      </p:grpSp>
      <p:sp>
        <p:nvSpPr>
          <p:cNvPr name="Freeform 80" id="80"/>
          <p:cNvSpPr/>
          <p:nvPr/>
        </p:nvSpPr>
        <p:spPr>
          <a:xfrm flipH="false" flipV="false" rot="0">
            <a:off x="8576174" y="9574714"/>
            <a:ext cx="1086562" cy="451602"/>
          </a:xfrm>
          <a:custGeom>
            <a:avLst/>
            <a:gdLst/>
            <a:ahLst/>
            <a:cxnLst/>
            <a:rect r="r" b="b" t="t" l="l"/>
            <a:pathLst>
              <a:path h="451602" w="1086562">
                <a:moveTo>
                  <a:pt x="0" y="0"/>
                </a:moveTo>
                <a:lnTo>
                  <a:pt x="1086562" y="0"/>
                </a:lnTo>
                <a:lnTo>
                  <a:pt x="1086562" y="451602"/>
                </a:lnTo>
                <a:lnTo>
                  <a:pt x="0" y="451602"/>
                </a:lnTo>
                <a:lnTo>
                  <a:pt x="0" y="0"/>
                </a:lnTo>
                <a:close/>
              </a:path>
            </a:pathLst>
          </a:custGeom>
          <a:blipFill>
            <a:blip r:embed="rId7"/>
            <a:stretch>
              <a:fillRect l="0" t="0" r="0" b="0"/>
            </a:stretch>
          </a:blipFill>
        </p:spPr>
      </p:sp>
      <p:grpSp>
        <p:nvGrpSpPr>
          <p:cNvPr name="Group 81" id="81"/>
          <p:cNvGrpSpPr/>
          <p:nvPr/>
        </p:nvGrpSpPr>
        <p:grpSpPr>
          <a:xfrm rot="0">
            <a:off x="11348344" y="8714116"/>
            <a:ext cx="2107208" cy="819562"/>
            <a:chOff x="0" y="0"/>
            <a:chExt cx="2809611" cy="1092749"/>
          </a:xfrm>
        </p:grpSpPr>
        <p:sp>
          <p:nvSpPr>
            <p:cNvPr name="Freeform 82" id="82"/>
            <p:cNvSpPr/>
            <p:nvPr/>
          </p:nvSpPr>
          <p:spPr>
            <a:xfrm flipH="false" flipV="false" rot="0">
              <a:off x="0" y="0"/>
              <a:ext cx="2809611" cy="359981"/>
            </a:xfrm>
            <a:custGeom>
              <a:avLst/>
              <a:gdLst/>
              <a:ahLst/>
              <a:cxnLst/>
              <a:rect r="r" b="b" t="t" l="l"/>
              <a:pathLst>
                <a:path h="359981" w="2809611">
                  <a:moveTo>
                    <a:pt x="0" y="0"/>
                  </a:moveTo>
                  <a:lnTo>
                    <a:pt x="2809611" y="0"/>
                  </a:lnTo>
                  <a:lnTo>
                    <a:pt x="2809611" y="359981"/>
                  </a:lnTo>
                  <a:lnTo>
                    <a:pt x="0" y="359981"/>
                  </a:lnTo>
                  <a:lnTo>
                    <a:pt x="0" y="0"/>
                  </a:lnTo>
                  <a:close/>
                </a:path>
              </a:pathLst>
            </a:custGeom>
            <a:blipFill>
              <a:blip r:embed="rId8"/>
              <a:stretch>
                <a:fillRect l="0" t="0" r="0" b="0"/>
              </a:stretch>
            </a:blipFill>
          </p:spPr>
        </p:sp>
        <p:sp>
          <p:nvSpPr>
            <p:cNvPr name="Freeform 83" id="83"/>
            <p:cNvSpPr/>
            <p:nvPr/>
          </p:nvSpPr>
          <p:spPr>
            <a:xfrm flipH="false" flipV="false" rot="0">
              <a:off x="0" y="272855"/>
              <a:ext cx="819894" cy="819894"/>
            </a:xfrm>
            <a:custGeom>
              <a:avLst/>
              <a:gdLst/>
              <a:ahLst/>
              <a:cxnLst/>
              <a:rect r="r" b="b" t="t" l="l"/>
              <a:pathLst>
                <a:path h="819894" w="819894">
                  <a:moveTo>
                    <a:pt x="0" y="0"/>
                  </a:moveTo>
                  <a:lnTo>
                    <a:pt x="819894" y="0"/>
                  </a:lnTo>
                  <a:lnTo>
                    <a:pt x="819894" y="819894"/>
                  </a:lnTo>
                  <a:lnTo>
                    <a:pt x="0" y="819894"/>
                  </a:lnTo>
                  <a:lnTo>
                    <a:pt x="0" y="0"/>
                  </a:lnTo>
                  <a:close/>
                </a:path>
              </a:pathLst>
            </a:custGeom>
            <a:blipFill>
              <a:blip r:embed="rId9"/>
              <a:stretch>
                <a:fillRect l="0" t="0" r="0" b="0"/>
              </a:stretch>
            </a:blipFill>
          </p:spPr>
        </p:sp>
        <p:sp>
          <p:nvSpPr>
            <p:cNvPr name="Freeform 84" id="84"/>
            <p:cNvSpPr/>
            <p:nvPr/>
          </p:nvSpPr>
          <p:spPr>
            <a:xfrm flipH="false" flipV="false" rot="0">
              <a:off x="850085" y="398923"/>
              <a:ext cx="606700" cy="606700"/>
            </a:xfrm>
            <a:custGeom>
              <a:avLst/>
              <a:gdLst/>
              <a:ahLst/>
              <a:cxnLst/>
              <a:rect r="r" b="b" t="t" l="l"/>
              <a:pathLst>
                <a:path h="606700" w="606700">
                  <a:moveTo>
                    <a:pt x="0" y="0"/>
                  </a:moveTo>
                  <a:lnTo>
                    <a:pt x="606700" y="0"/>
                  </a:lnTo>
                  <a:lnTo>
                    <a:pt x="606700" y="606700"/>
                  </a:lnTo>
                  <a:lnTo>
                    <a:pt x="0" y="606700"/>
                  </a:lnTo>
                  <a:lnTo>
                    <a:pt x="0" y="0"/>
                  </a:lnTo>
                  <a:close/>
                </a:path>
              </a:pathLst>
            </a:custGeom>
            <a:blipFill>
              <a:blip r:embed="rId10"/>
              <a:stretch>
                <a:fillRect l="0" t="0" r="0" b="0"/>
              </a:stretch>
            </a:blipFill>
          </p:spPr>
        </p:sp>
        <p:sp>
          <p:nvSpPr>
            <p:cNvPr name="Freeform 85" id="85"/>
            <p:cNvSpPr/>
            <p:nvPr/>
          </p:nvSpPr>
          <p:spPr>
            <a:xfrm flipH="false" flipV="false" rot="0">
              <a:off x="1505289" y="359981"/>
              <a:ext cx="645642" cy="645642"/>
            </a:xfrm>
            <a:custGeom>
              <a:avLst/>
              <a:gdLst/>
              <a:ahLst/>
              <a:cxnLst/>
              <a:rect r="r" b="b" t="t" l="l"/>
              <a:pathLst>
                <a:path h="645642" w="645642">
                  <a:moveTo>
                    <a:pt x="0" y="0"/>
                  </a:moveTo>
                  <a:lnTo>
                    <a:pt x="645642" y="0"/>
                  </a:lnTo>
                  <a:lnTo>
                    <a:pt x="645642" y="645642"/>
                  </a:lnTo>
                  <a:lnTo>
                    <a:pt x="0" y="645642"/>
                  </a:lnTo>
                  <a:lnTo>
                    <a:pt x="0" y="0"/>
                  </a:lnTo>
                  <a:close/>
                </a:path>
              </a:pathLst>
            </a:custGeom>
            <a:blipFill>
              <a:blip r:embed="rId11"/>
              <a:stretch>
                <a:fillRect l="0" t="0" r="0" b="0"/>
              </a:stretch>
            </a:blipFill>
          </p:spPr>
        </p:sp>
        <p:sp>
          <p:nvSpPr>
            <p:cNvPr name="Freeform 86" id="86"/>
            <p:cNvSpPr/>
            <p:nvPr/>
          </p:nvSpPr>
          <p:spPr>
            <a:xfrm flipH="false" flipV="false" rot="0">
              <a:off x="2150931" y="359981"/>
              <a:ext cx="658680" cy="658680"/>
            </a:xfrm>
            <a:custGeom>
              <a:avLst/>
              <a:gdLst/>
              <a:ahLst/>
              <a:cxnLst/>
              <a:rect r="r" b="b" t="t" l="l"/>
              <a:pathLst>
                <a:path h="658680" w="658680">
                  <a:moveTo>
                    <a:pt x="0" y="0"/>
                  </a:moveTo>
                  <a:lnTo>
                    <a:pt x="658680" y="0"/>
                  </a:lnTo>
                  <a:lnTo>
                    <a:pt x="658680" y="658681"/>
                  </a:lnTo>
                  <a:lnTo>
                    <a:pt x="0" y="658681"/>
                  </a:lnTo>
                  <a:lnTo>
                    <a:pt x="0" y="0"/>
                  </a:lnTo>
                  <a:close/>
                </a:path>
              </a:pathLst>
            </a:custGeom>
            <a:blipFill>
              <a:blip r:embed="rId12"/>
              <a:stretch>
                <a:fillRect l="0" t="0" r="0" b="0"/>
              </a:stretch>
            </a:blipFill>
          </p:spPr>
        </p:sp>
      </p:grpSp>
      <p:sp>
        <p:nvSpPr>
          <p:cNvPr name="Freeform 87" id="87"/>
          <p:cNvSpPr/>
          <p:nvPr/>
        </p:nvSpPr>
        <p:spPr>
          <a:xfrm flipH="false" flipV="false" rot="0">
            <a:off x="13611277" y="8725624"/>
            <a:ext cx="808053" cy="808053"/>
          </a:xfrm>
          <a:custGeom>
            <a:avLst/>
            <a:gdLst/>
            <a:ahLst/>
            <a:cxnLst/>
            <a:rect r="r" b="b" t="t" l="l"/>
            <a:pathLst>
              <a:path h="808053" w="808053">
                <a:moveTo>
                  <a:pt x="0" y="0"/>
                </a:moveTo>
                <a:lnTo>
                  <a:pt x="808053" y="0"/>
                </a:lnTo>
                <a:lnTo>
                  <a:pt x="808053" y="808054"/>
                </a:lnTo>
                <a:lnTo>
                  <a:pt x="0" y="808054"/>
                </a:lnTo>
                <a:lnTo>
                  <a:pt x="0" y="0"/>
                </a:lnTo>
                <a:close/>
              </a:path>
            </a:pathLst>
          </a:custGeom>
          <a:blipFill>
            <a:blip r:embed="rId13"/>
            <a:stretch>
              <a:fillRect l="0" t="0" r="0" b="0"/>
            </a:stretch>
          </a:blipFill>
        </p:spPr>
      </p:sp>
      <p:sp>
        <p:nvSpPr>
          <p:cNvPr name="Freeform 88" id="88"/>
          <p:cNvSpPr/>
          <p:nvPr/>
        </p:nvSpPr>
        <p:spPr>
          <a:xfrm flipH="false" flipV="false" rot="0">
            <a:off x="14419330" y="8784443"/>
            <a:ext cx="749234" cy="749234"/>
          </a:xfrm>
          <a:custGeom>
            <a:avLst/>
            <a:gdLst/>
            <a:ahLst/>
            <a:cxnLst/>
            <a:rect r="r" b="b" t="t" l="l"/>
            <a:pathLst>
              <a:path h="749234" w="749234">
                <a:moveTo>
                  <a:pt x="0" y="0"/>
                </a:moveTo>
                <a:lnTo>
                  <a:pt x="749234" y="0"/>
                </a:lnTo>
                <a:lnTo>
                  <a:pt x="749234" y="749235"/>
                </a:lnTo>
                <a:lnTo>
                  <a:pt x="0" y="749235"/>
                </a:lnTo>
                <a:lnTo>
                  <a:pt x="0" y="0"/>
                </a:lnTo>
                <a:close/>
              </a:path>
            </a:pathLst>
          </a:custGeom>
          <a:blipFill>
            <a:blip r:embed="rId14"/>
            <a:stretch>
              <a:fillRect l="0" t="0" r="0" b="0"/>
            </a:stretch>
          </a:blipFill>
        </p:spPr>
      </p:sp>
      <p:grpSp>
        <p:nvGrpSpPr>
          <p:cNvPr name="Group 89" id="89"/>
          <p:cNvGrpSpPr/>
          <p:nvPr/>
        </p:nvGrpSpPr>
        <p:grpSpPr>
          <a:xfrm rot="0">
            <a:off x="1061277" y="1464489"/>
            <a:ext cx="3694921" cy="3893022"/>
            <a:chOff x="0" y="0"/>
            <a:chExt cx="4926561" cy="5190696"/>
          </a:xfrm>
        </p:grpSpPr>
        <p:grpSp>
          <p:nvGrpSpPr>
            <p:cNvPr name="Group 90" id="90"/>
            <p:cNvGrpSpPr/>
            <p:nvPr/>
          </p:nvGrpSpPr>
          <p:grpSpPr>
            <a:xfrm rot="0">
              <a:off x="0" y="0"/>
              <a:ext cx="4926561" cy="5190696"/>
              <a:chOff x="0" y="0"/>
              <a:chExt cx="973148" cy="1025323"/>
            </a:xfrm>
          </p:grpSpPr>
          <p:sp>
            <p:nvSpPr>
              <p:cNvPr name="Freeform 91" id="91"/>
              <p:cNvSpPr/>
              <p:nvPr/>
            </p:nvSpPr>
            <p:spPr>
              <a:xfrm flipH="false" flipV="false" rot="0">
                <a:off x="0" y="0"/>
                <a:ext cx="973148" cy="1025323"/>
              </a:xfrm>
              <a:custGeom>
                <a:avLst/>
                <a:gdLst/>
                <a:ahLst/>
                <a:cxnLst/>
                <a:rect r="r" b="b" t="t" l="l"/>
                <a:pathLst>
                  <a:path h="1025323" w="973148">
                    <a:moveTo>
                      <a:pt x="106860" y="0"/>
                    </a:moveTo>
                    <a:lnTo>
                      <a:pt x="866288" y="0"/>
                    </a:lnTo>
                    <a:cubicBezTo>
                      <a:pt x="894629" y="0"/>
                      <a:pt x="921809" y="11258"/>
                      <a:pt x="941849" y="31298"/>
                    </a:cubicBezTo>
                    <a:cubicBezTo>
                      <a:pt x="961889" y="51339"/>
                      <a:pt x="973148" y="78519"/>
                      <a:pt x="973148" y="106860"/>
                    </a:cubicBezTo>
                    <a:lnTo>
                      <a:pt x="973148" y="918463"/>
                    </a:lnTo>
                    <a:cubicBezTo>
                      <a:pt x="973148" y="977480"/>
                      <a:pt x="925305" y="1025323"/>
                      <a:pt x="866288" y="1025323"/>
                    </a:cubicBezTo>
                    <a:lnTo>
                      <a:pt x="106860" y="1025323"/>
                    </a:lnTo>
                    <a:cubicBezTo>
                      <a:pt x="47843" y="1025323"/>
                      <a:pt x="0" y="977480"/>
                      <a:pt x="0" y="918463"/>
                    </a:cubicBezTo>
                    <a:lnTo>
                      <a:pt x="0" y="106860"/>
                    </a:lnTo>
                    <a:cubicBezTo>
                      <a:pt x="0" y="47843"/>
                      <a:pt x="47843" y="0"/>
                      <a:pt x="106860" y="0"/>
                    </a:cubicBezTo>
                    <a:close/>
                  </a:path>
                </a:pathLst>
              </a:custGeom>
              <a:gradFill rotWithShape="true">
                <a:gsLst>
                  <a:gs pos="0">
                    <a:srgbClr val="A6A6A6">
                      <a:alpha val="100000"/>
                    </a:srgbClr>
                  </a:gs>
                  <a:gs pos="100000">
                    <a:srgbClr val="FFFFFF">
                      <a:alpha val="100000"/>
                    </a:srgbClr>
                  </a:gs>
                </a:gsLst>
                <a:lin ang="0"/>
              </a:gradFill>
            </p:spPr>
          </p:sp>
          <p:sp>
            <p:nvSpPr>
              <p:cNvPr name="TextBox 92" id="92"/>
              <p:cNvSpPr txBox="true"/>
              <p:nvPr/>
            </p:nvSpPr>
            <p:spPr>
              <a:xfrm>
                <a:off x="0" y="-38100"/>
                <a:ext cx="973148" cy="1063423"/>
              </a:xfrm>
              <a:prstGeom prst="rect">
                <a:avLst/>
              </a:prstGeom>
            </p:spPr>
            <p:txBody>
              <a:bodyPr anchor="ctr" rtlCol="false" tIns="50800" lIns="50800" bIns="50800" rIns="50800"/>
              <a:lstStyle/>
              <a:p>
                <a:pPr algn="ctr">
                  <a:lnSpc>
                    <a:spcPts val="2800"/>
                  </a:lnSpc>
                </a:pPr>
              </a:p>
            </p:txBody>
          </p:sp>
        </p:grpSp>
        <p:sp>
          <p:nvSpPr>
            <p:cNvPr name="Freeform 93" id="93"/>
            <p:cNvSpPr/>
            <p:nvPr/>
          </p:nvSpPr>
          <p:spPr>
            <a:xfrm flipH="false" flipV="false" rot="0">
              <a:off x="353845" y="325241"/>
              <a:ext cx="4218871" cy="4218871"/>
            </a:xfrm>
            <a:custGeom>
              <a:avLst/>
              <a:gdLst/>
              <a:ahLst/>
              <a:cxnLst/>
              <a:rect r="r" b="b" t="t" l="l"/>
              <a:pathLst>
                <a:path h="4218871" w="4218871">
                  <a:moveTo>
                    <a:pt x="0" y="0"/>
                  </a:moveTo>
                  <a:lnTo>
                    <a:pt x="4218871" y="0"/>
                  </a:lnTo>
                  <a:lnTo>
                    <a:pt x="4218871" y="4218871"/>
                  </a:lnTo>
                  <a:lnTo>
                    <a:pt x="0" y="4218871"/>
                  </a:lnTo>
                  <a:lnTo>
                    <a:pt x="0" y="0"/>
                  </a:lnTo>
                  <a:close/>
                </a:path>
              </a:pathLst>
            </a:custGeom>
            <a:blipFill>
              <a:blip r:embed="rId15"/>
              <a:stretch>
                <a:fillRect l="0" t="0" r="0" b="0"/>
              </a:stretch>
            </a:blipFill>
          </p:spPr>
        </p:sp>
      </p:grpSp>
      <p:grpSp>
        <p:nvGrpSpPr>
          <p:cNvPr name="Group 94" id="94"/>
          <p:cNvGrpSpPr/>
          <p:nvPr/>
        </p:nvGrpSpPr>
        <p:grpSpPr>
          <a:xfrm rot="0">
            <a:off x="1204128" y="5467290"/>
            <a:ext cx="3251015" cy="890244"/>
            <a:chOff x="0" y="0"/>
            <a:chExt cx="1003388" cy="274764"/>
          </a:xfrm>
        </p:grpSpPr>
        <p:sp>
          <p:nvSpPr>
            <p:cNvPr name="Freeform 95" id="95"/>
            <p:cNvSpPr/>
            <p:nvPr/>
          </p:nvSpPr>
          <p:spPr>
            <a:xfrm flipH="false" flipV="false" rot="0">
              <a:off x="0" y="0"/>
              <a:ext cx="1003388" cy="274764"/>
            </a:xfrm>
            <a:custGeom>
              <a:avLst/>
              <a:gdLst/>
              <a:ahLst/>
              <a:cxnLst/>
              <a:rect r="r" b="b" t="t" l="l"/>
              <a:pathLst>
                <a:path h="274764" w="1003388">
                  <a:moveTo>
                    <a:pt x="800188" y="0"/>
                  </a:moveTo>
                  <a:cubicBezTo>
                    <a:pt x="912413" y="0"/>
                    <a:pt x="1003388" y="61508"/>
                    <a:pt x="1003388" y="137382"/>
                  </a:cubicBezTo>
                  <a:cubicBezTo>
                    <a:pt x="1003388" y="213256"/>
                    <a:pt x="912413" y="274764"/>
                    <a:pt x="800188" y="274764"/>
                  </a:cubicBezTo>
                  <a:lnTo>
                    <a:pt x="203200" y="274764"/>
                  </a:lnTo>
                  <a:cubicBezTo>
                    <a:pt x="90976" y="274764"/>
                    <a:pt x="0" y="213256"/>
                    <a:pt x="0" y="137382"/>
                  </a:cubicBezTo>
                  <a:cubicBezTo>
                    <a:pt x="0" y="61508"/>
                    <a:pt x="90976" y="0"/>
                    <a:pt x="203200" y="0"/>
                  </a:cubicBezTo>
                  <a:close/>
                </a:path>
              </a:pathLst>
            </a:custGeom>
            <a:solidFill>
              <a:srgbClr val="FFC2C2"/>
            </a:solidFill>
          </p:spPr>
        </p:sp>
        <p:sp>
          <p:nvSpPr>
            <p:cNvPr name="TextBox 96" id="96"/>
            <p:cNvSpPr txBox="true"/>
            <p:nvPr/>
          </p:nvSpPr>
          <p:spPr>
            <a:xfrm>
              <a:off x="0" y="-28575"/>
              <a:ext cx="1003388" cy="303339"/>
            </a:xfrm>
            <a:prstGeom prst="rect">
              <a:avLst/>
            </a:prstGeom>
          </p:spPr>
          <p:txBody>
            <a:bodyPr anchor="ctr" rtlCol="false" tIns="50800" lIns="50800" bIns="50800" rIns="50800"/>
            <a:lstStyle/>
            <a:p>
              <a:pPr algn="ctr">
                <a:lnSpc>
                  <a:spcPts val="1960"/>
                </a:lnSpc>
              </a:pPr>
              <a:r>
                <a:rPr lang="en-US" sz="1400" u="sng">
                  <a:solidFill>
                    <a:srgbClr val="000000"/>
                  </a:solidFill>
                  <a:latin typeface="Montserrat"/>
                  <a:ea typeface="Montserrat"/>
                  <a:cs typeface="Montserrat"/>
                  <a:sym typeface="Montserrat"/>
                </a:rPr>
                <a:t>Click or scan this to see my curriculum vitae</a:t>
              </a:r>
            </a:p>
          </p:txBody>
        </p:sp>
      </p:grpSp>
      <p:sp>
        <p:nvSpPr>
          <p:cNvPr name="TextBox 97" id="97"/>
          <p:cNvSpPr txBox="true"/>
          <p:nvPr/>
        </p:nvSpPr>
        <p:spPr>
          <a:xfrm rot="0">
            <a:off x="1028700" y="6750777"/>
            <a:ext cx="3760075" cy="471805"/>
          </a:xfrm>
          <a:prstGeom prst="rect">
            <a:avLst/>
          </a:prstGeom>
        </p:spPr>
        <p:txBody>
          <a:bodyPr anchor="t" rtlCol="false" tIns="0" lIns="0" bIns="0" rIns="0">
            <a:spAutoFit/>
          </a:bodyPr>
          <a:lstStyle/>
          <a:p>
            <a:pPr algn="l">
              <a:lnSpc>
                <a:spcPts val="3919"/>
              </a:lnSpc>
            </a:pPr>
            <a:r>
              <a:rPr lang="en-US" sz="2799">
                <a:solidFill>
                  <a:srgbClr val="39251F"/>
                </a:solidFill>
                <a:latin typeface="Montserrat"/>
                <a:ea typeface="Montserrat"/>
                <a:cs typeface="Montserrat"/>
                <a:sym typeface="Montserrat"/>
              </a:rPr>
              <a:t>Interest &amp; Expertise</a:t>
            </a:r>
          </a:p>
        </p:txBody>
      </p:sp>
      <p:sp>
        <p:nvSpPr>
          <p:cNvPr name="TextBox 98" id="98"/>
          <p:cNvSpPr txBox="true"/>
          <p:nvPr/>
        </p:nvSpPr>
        <p:spPr>
          <a:xfrm rot="0">
            <a:off x="1028700" y="7155907"/>
            <a:ext cx="5885707" cy="2835275"/>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39251F"/>
                </a:solidFill>
                <a:latin typeface="Poppins"/>
                <a:ea typeface="Poppins"/>
                <a:cs typeface="Poppins"/>
                <a:sym typeface="Poppins"/>
              </a:rPr>
              <a:t>Industrial Engineering</a:t>
            </a:r>
          </a:p>
          <a:p>
            <a:pPr algn="l" marL="431801" indent="-215900" lvl="1">
              <a:lnSpc>
                <a:spcPts val="2800"/>
              </a:lnSpc>
              <a:buFont typeface="Arial"/>
              <a:buChar char="•"/>
            </a:pPr>
            <a:r>
              <a:rPr lang="en-US" sz="2000">
                <a:solidFill>
                  <a:srgbClr val="39251F"/>
                </a:solidFill>
                <a:latin typeface="Poppins"/>
                <a:ea typeface="Poppins"/>
                <a:cs typeface="Poppins"/>
                <a:sym typeface="Poppins"/>
              </a:rPr>
              <a:t>Manufacturing &amp; Production</a:t>
            </a:r>
          </a:p>
          <a:p>
            <a:pPr algn="l" marL="431801" indent="-215900" lvl="1">
              <a:lnSpc>
                <a:spcPts val="2800"/>
              </a:lnSpc>
              <a:buFont typeface="Arial"/>
              <a:buChar char="•"/>
            </a:pPr>
            <a:r>
              <a:rPr lang="en-US" sz="2000">
                <a:solidFill>
                  <a:srgbClr val="39251F"/>
                </a:solidFill>
                <a:latin typeface="Poppins"/>
                <a:ea typeface="Poppins"/>
                <a:cs typeface="Poppins"/>
                <a:sym typeface="Poppins"/>
              </a:rPr>
              <a:t>Quality Control</a:t>
            </a:r>
          </a:p>
          <a:p>
            <a:pPr algn="l" marL="431801" indent="-215900" lvl="1">
              <a:lnSpc>
                <a:spcPts val="2800"/>
              </a:lnSpc>
              <a:buFont typeface="Arial"/>
              <a:buChar char="•"/>
            </a:pPr>
            <a:r>
              <a:rPr lang="en-US" sz="2000">
                <a:solidFill>
                  <a:srgbClr val="39251F"/>
                </a:solidFill>
                <a:latin typeface="Poppins"/>
                <a:ea typeface="Poppins"/>
                <a:cs typeface="Poppins"/>
                <a:sym typeface="Poppins"/>
              </a:rPr>
              <a:t>Supply Chain Management</a:t>
            </a:r>
          </a:p>
          <a:p>
            <a:pPr algn="l" marL="431801" indent="-215900" lvl="1">
              <a:lnSpc>
                <a:spcPts val="2800"/>
              </a:lnSpc>
              <a:buFont typeface="Arial"/>
              <a:buChar char="•"/>
            </a:pPr>
            <a:r>
              <a:rPr lang="en-US" sz="2000">
                <a:solidFill>
                  <a:srgbClr val="39251F"/>
                </a:solidFill>
                <a:latin typeface="Poppins"/>
                <a:ea typeface="Poppins"/>
                <a:cs typeface="Poppins"/>
                <a:sym typeface="Poppins"/>
              </a:rPr>
              <a:t>K3/HSE</a:t>
            </a:r>
          </a:p>
          <a:p>
            <a:pPr algn="l" marL="431801" indent="-215900" lvl="1">
              <a:lnSpc>
                <a:spcPts val="2800"/>
              </a:lnSpc>
              <a:buFont typeface="Arial"/>
              <a:buChar char="•"/>
            </a:pPr>
            <a:r>
              <a:rPr lang="en-US" sz="2000">
                <a:solidFill>
                  <a:srgbClr val="39251F"/>
                </a:solidFill>
                <a:latin typeface="Poppins"/>
                <a:ea typeface="Poppins"/>
                <a:cs typeface="Poppins"/>
                <a:sym typeface="Poppins"/>
              </a:rPr>
              <a:t>Field Inspection &amp; Supervision</a:t>
            </a:r>
          </a:p>
          <a:p>
            <a:pPr algn="l" marL="431801" indent="-215900" lvl="1">
              <a:lnSpc>
                <a:spcPts val="2800"/>
              </a:lnSpc>
              <a:buFont typeface="Arial"/>
              <a:buChar char="•"/>
            </a:pPr>
            <a:r>
              <a:rPr lang="en-US" sz="2000">
                <a:solidFill>
                  <a:srgbClr val="39251F"/>
                </a:solidFill>
                <a:latin typeface="Poppins"/>
                <a:ea typeface="Poppins"/>
                <a:cs typeface="Poppins"/>
                <a:sym typeface="Poppins"/>
              </a:rPr>
              <a:t>Data Analysis</a:t>
            </a:r>
          </a:p>
          <a:p>
            <a:pPr algn="l" marL="431801" indent="-215900" lvl="1">
              <a:lnSpc>
                <a:spcPts val="2800"/>
              </a:lnSpc>
              <a:buFont typeface="Arial"/>
              <a:buChar char="•"/>
            </a:pPr>
            <a:r>
              <a:rPr lang="en-US" sz="2000">
                <a:solidFill>
                  <a:srgbClr val="39251F"/>
                </a:solidFill>
                <a:latin typeface="Poppins"/>
                <a:ea typeface="Poppins"/>
                <a:cs typeface="Poppins"/>
                <a:sym typeface="Poppins"/>
              </a:rPr>
              <a:t>Project Administration</a:t>
            </a:r>
          </a:p>
        </p:txBody>
      </p:sp>
      <p:sp>
        <p:nvSpPr>
          <p:cNvPr name="TextBox 99" id="99"/>
          <p:cNvSpPr txBox="true"/>
          <p:nvPr/>
        </p:nvSpPr>
        <p:spPr>
          <a:xfrm rot="0">
            <a:off x="870496" y="982606"/>
            <a:ext cx="3918278" cy="415253"/>
          </a:xfrm>
          <a:prstGeom prst="rect">
            <a:avLst/>
          </a:prstGeom>
        </p:spPr>
        <p:txBody>
          <a:bodyPr anchor="t" rtlCol="false" tIns="0" lIns="0" bIns="0" rIns="0">
            <a:spAutoFit/>
          </a:bodyPr>
          <a:lstStyle/>
          <a:p>
            <a:pPr algn="l">
              <a:lnSpc>
                <a:spcPts val="3309"/>
              </a:lnSpc>
            </a:pPr>
            <a:r>
              <a:rPr lang="en-US" sz="2363" b="true">
                <a:solidFill>
                  <a:srgbClr val="39251F"/>
                </a:solidFill>
                <a:latin typeface="Montserrat Bold"/>
                <a:ea typeface="Montserrat Bold"/>
                <a:cs typeface="Montserrat Bold"/>
                <a:sym typeface="Montserrat Bold"/>
              </a:rPr>
              <a:t>CURRIVULUM VITAE :</a:t>
            </a:r>
          </a:p>
        </p:txBody>
      </p:sp>
      <p:sp>
        <p:nvSpPr>
          <p:cNvPr name="Freeform 100" id="100"/>
          <p:cNvSpPr/>
          <p:nvPr/>
        </p:nvSpPr>
        <p:spPr>
          <a:xfrm flipH="false" flipV="false" rot="-2700000">
            <a:off x="413938" y="982562"/>
            <a:ext cx="378225" cy="378225"/>
          </a:xfrm>
          <a:custGeom>
            <a:avLst/>
            <a:gdLst/>
            <a:ahLst/>
            <a:cxnLst/>
            <a:rect r="r" b="b" t="t" l="l"/>
            <a:pathLst>
              <a:path h="378225" w="378225">
                <a:moveTo>
                  <a:pt x="0" y="0"/>
                </a:moveTo>
                <a:lnTo>
                  <a:pt x="378225" y="0"/>
                </a:lnTo>
                <a:lnTo>
                  <a:pt x="378225" y="378226"/>
                </a:lnTo>
                <a:lnTo>
                  <a:pt x="0" y="37822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9401" y="169862"/>
            <a:ext cx="16160834" cy="734367"/>
            <a:chOff x="0" y="0"/>
            <a:chExt cx="21547778" cy="979155"/>
          </a:xfrm>
        </p:grpSpPr>
        <p:grpSp>
          <p:nvGrpSpPr>
            <p:cNvPr name="Group 3" id="3"/>
            <p:cNvGrpSpPr/>
            <p:nvPr/>
          </p:nvGrpSpPr>
          <p:grpSpPr>
            <a:xfrm rot="0">
              <a:off x="0" y="0"/>
              <a:ext cx="21547778" cy="979155"/>
              <a:chOff x="0" y="0"/>
              <a:chExt cx="8943439" cy="406400"/>
            </a:xfrm>
          </p:grpSpPr>
          <p:sp>
            <p:nvSpPr>
              <p:cNvPr name="Freeform 4" id="4"/>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5" id="5"/>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7" id="7"/>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8" id="8"/>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Experiences</a:t>
              </a:r>
            </a:p>
          </p:txBody>
        </p:sp>
        <p:sp>
          <p:nvSpPr>
            <p:cNvPr name="TextBox 9" id="9"/>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10" id="10"/>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Skills</a:t>
              </a:r>
            </a:p>
          </p:txBody>
        </p:sp>
        <p:sp>
          <p:nvSpPr>
            <p:cNvPr name="TextBox 11" id="11"/>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Project</a:t>
              </a:r>
            </a:p>
          </p:txBody>
        </p:sp>
        <p:sp>
          <p:nvSpPr>
            <p:cNvPr name="TextBox 12" id="12"/>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13" id="13"/>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sp>
        <p:nvSpPr>
          <p:cNvPr name="TextBox 14" id="14"/>
          <p:cNvSpPr txBox="true"/>
          <p:nvPr/>
        </p:nvSpPr>
        <p:spPr>
          <a:xfrm rot="0">
            <a:off x="522154" y="2037290"/>
            <a:ext cx="4891718" cy="415253"/>
          </a:xfrm>
          <a:prstGeom prst="rect">
            <a:avLst/>
          </a:prstGeom>
        </p:spPr>
        <p:txBody>
          <a:bodyPr anchor="t" rtlCol="false" tIns="0" lIns="0" bIns="0" rIns="0">
            <a:spAutoFit/>
          </a:bodyPr>
          <a:lstStyle/>
          <a:p>
            <a:pPr algn="l">
              <a:lnSpc>
                <a:spcPts val="3309"/>
              </a:lnSpc>
            </a:pPr>
            <a:r>
              <a:rPr lang="en-US" sz="2363" b="true">
                <a:solidFill>
                  <a:srgbClr val="39251F"/>
                </a:solidFill>
                <a:latin typeface="Montserrat Bold"/>
                <a:ea typeface="Montserrat Bold"/>
                <a:cs typeface="Montserrat Bold"/>
                <a:sym typeface="Montserrat Bold"/>
              </a:rPr>
              <a:t>Pelatihan K3 UMUM </a:t>
            </a:r>
          </a:p>
        </p:txBody>
      </p:sp>
      <p:sp>
        <p:nvSpPr>
          <p:cNvPr name="TextBox 15" id="15"/>
          <p:cNvSpPr txBox="true"/>
          <p:nvPr/>
        </p:nvSpPr>
        <p:spPr>
          <a:xfrm rot="0">
            <a:off x="522154" y="2445420"/>
            <a:ext cx="8771959" cy="1044575"/>
          </a:xfrm>
          <a:prstGeom prst="rect">
            <a:avLst/>
          </a:prstGeom>
        </p:spPr>
        <p:txBody>
          <a:bodyPr anchor="t" rtlCol="false" tIns="0" lIns="0" bIns="0" rIns="0">
            <a:spAutoFit/>
          </a:bodyPr>
          <a:lstStyle/>
          <a:p>
            <a:pPr algn="l" marL="431801" indent="-215900" lvl="1">
              <a:lnSpc>
                <a:spcPts val="2800"/>
              </a:lnSpc>
              <a:spcBef>
                <a:spcPct val="0"/>
              </a:spcBef>
              <a:buFont typeface="Arial"/>
              <a:buChar char="•"/>
            </a:pPr>
            <a:r>
              <a:rPr lang="en-US" sz="2000">
                <a:solidFill>
                  <a:srgbClr val="39251F"/>
                </a:solidFill>
                <a:latin typeface="Montserrat"/>
                <a:ea typeface="Montserrat"/>
                <a:cs typeface="Montserrat"/>
                <a:sym typeface="Montserrat"/>
              </a:rPr>
              <a:t>Penyelenggara  : PT Fusi Indonesia / PT Fusi Teknika Indonesia</a:t>
            </a:r>
          </a:p>
          <a:p>
            <a:pPr algn="l" marL="431801" indent="-215900" lvl="1">
              <a:lnSpc>
                <a:spcPts val="2800"/>
              </a:lnSpc>
              <a:spcBef>
                <a:spcPct val="0"/>
              </a:spcBef>
              <a:buFont typeface="Arial"/>
              <a:buChar char="•"/>
            </a:pPr>
            <a:r>
              <a:rPr lang="en-US" sz="2000">
                <a:solidFill>
                  <a:srgbClr val="39251F"/>
                </a:solidFill>
                <a:latin typeface="Montserrat"/>
                <a:ea typeface="Montserrat"/>
                <a:cs typeface="Montserrat"/>
                <a:sym typeface="Montserrat"/>
              </a:rPr>
              <a:t>Tahun: 2024</a:t>
            </a:r>
          </a:p>
          <a:p>
            <a:pPr algn="l" marL="431801" indent="-215900" lvl="1">
              <a:lnSpc>
                <a:spcPts val="2800"/>
              </a:lnSpc>
              <a:spcBef>
                <a:spcPct val="0"/>
              </a:spcBef>
              <a:buFont typeface="Arial"/>
              <a:buChar char="•"/>
            </a:pPr>
            <a:r>
              <a:rPr lang="en-US" sz="2000">
                <a:solidFill>
                  <a:srgbClr val="39251F"/>
                </a:solidFill>
                <a:latin typeface="Montserrat"/>
                <a:ea typeface="Montserrat"/>
                <a:cs typeface="Montserrat"/>
                <a:sym typeface="Montserrat"/>
              </a:rPr>
              <a:t>Kompetensi: Keselamatan dan Kesehatan Kerja (K3)</a:t>
            </a:r>
          </a:p>
        </p:txBody>
      </p:sp>
      <p:sp>
        <p:nvSpPr>
          <p:cNvPr name="TextBox 16" id="16"/>
          <p:cNvSpPr txBox="true"/>
          <p:nvPr/>
        </p:nvSpPr>
        <p:spPr>
          <a:xfrm rot="0">
            <a:off x="4751720" y="1148629"/>
            <a:ext cx="8784560" cy="945811"/>
          </a:xfrm>
          <a:prstGeom prst="rect">
            <a:avLst/>
          </a:prstGeom>
        </p:spPr>
        <p:txBody>
          <a:bodyPr anchor="t" rtlCol="false" tIns="0" lIns="0" bIns="0" rIns="0">
            <a:spAutoFit/>
          </a:bodyPr>
          <a:lstStyle/>
          <a:p>
            <a:pPr algn="just">
              <a:lnSpc>
                <a:spcPts val="6976"/>
              </a:lnSpc>
            </a:pPr>
            <a:r>
              <a:rPr lang="en-US" b="true" sz="6906">
                <a:solidFill>
                  <a:srgbClr val="39251F"/>
                </a:solidFill>
                <a:latin typeface="Bebas Neue Bold"/>
                <a:ea typeface="Bebas Neue Bold"/>
                <a:cs typeface="Bebas Neue Bold"/>
                <a:sym typeface="Bebas Neue Bold"/>
              </a:rPr>
              <a:t>TRAINING DAN CERTIFICATION</a:t>
            </a:r>
          </a:p>
        </p:txBody>
      </p:sp>
      <p:grpSp>
        <p:nvGrpSpPr>
          <p:cNvPr name="Group 17" id="17"/>
          <p:cNvGrpSpPr/>
          <p:nvPr/>
        </p:nvGrpSpPr>
        <p:grpSpPr>
          <a:xfrm rot="0">
            <a:off x="3351073" y="4155450"/>
            <a:ext cx="2690458" cy="3205554"/>
            <a:chOff x="0" y="0"/>
            <a:chExt cx="492326" cy="586583"/>
          </a:xfrm>
        </p:grpSpPr>
        <p:sp>
          <p:nvSpPr>
            <p:cNvPr name="Freeform 18" id="18"/>
            <p:cNvSpPr/>
            <p:nvPr/>
          </p:nvSpPr>
          <p:spPr>
            <a:xfrm flipH="false" flipV="false" rot="0">
              <a:off x="0" y="0"/>
              <a:ext cx="492326" cy="586583"/>
            </a:xfrm>
            <a:custGeom>
              <a:avLst/>
              <a:gdLst/>
              <a:ahLst/>
              <a:cxnLst/>
              <a:rect r="r" b="b" t="t" l="l"/>
              <a:pathLst>
                <a:path h="586583" w="492326">
                  <a:moveTo>
                    <a:pt x="0" y="0"/>
                  </a:moveTo>
                  <a:lnTo>
                    <a:pt x="492326" y="0"/>
                  </a:lnTo>
                  <a:lnTo>
                    <a:pt x="492326" y="586583"/>
                  </a:lnTo>
                  <a:lnTo>
                    <a:pt x="0" y="586583"/>
                  </a:lnTo>
                  <a:close/>
                </a:path>
              </a:pathLst>
            </a:custGeom>
            <a:blipFill>
              <a:blip r:embed="rId2"/>
              <a:stretch>
                <a:fillRect l="0" t="-5954" r="0" b="-5954"/>
              </a:stretch>
            </a:blipFill>
          </p:spPr>
        </p:sp>
      </p:grpSp>
      <p:grpSp>
        <p:nvGrpSpPr>
          <p:cNvPr name="Group 19" id="19"/>
          <p:cNvGrpSpPr/>
          <p:nvPr/>
        </p:nvGrpSpPr>
        <p:grpSpPr>
          <a:xfrm rot="0">
            <a:off x="6362745" y="4156895"/>
            <a:ext cx="2690458" cy="3205554"/>
            <a:chOff x="0" y="0"/>
            <a:chExt cx="492326" cy="586583"/>
          </a:xfrm>
        </p:grpSpPr>
        <p:sp>
          <p:nvSpPr>
            <p:cNvPr name="Freeform 20" id="20"/>
            <p:cNvSpPr/>
            <p:nvPr/>
          </p:nvSpPr>
          <p:spPr>
            <a:xfrm flipH="false" flipV="false" rot="0">
              <a:off x="0" y="0"/>
              <a:ext cx="492326" cy="586583"/>
            </a:xfrm>
            <a:custGeom>
              <a:avLst/>
              <a:gdLst/>
              <a:ahLst/>
              <a:cxnLst/>
              <a:rect r="r" b="b" t="t" l="l"/>
              <a:pathLst>
                <a:path h="586583" w="492326">
                  <a:moveTo>
                    <a:pt x="0" y="0"/>
                  </a:moveTo>
                  <a:lnTo>
                    <a:pt x="492326" y="0"/>
                  </a:lnTo>
                  <a:lnTo>
                    <a:pt x="492326" y="586583"/>
                  </a:lnTo>
                  <a:lnTo>
                    <a:pt x="0" y="586583"/>
                  </a:lnTo>
                  <a:close/>
                </a:path>
              </a:pathLst>
            </a:custGeom>
            <a:blipFill>
              <a:blip r:embed="rId3"/>
              <a:stretch>
                <a:fillRect l="0" t="-8693" r="0" b="-8693"/>
              </a:stretch>
            </a:blipFill>
          </p:spPr>
        </p:sp>
      </p:grpSp>
      <p:grpSp>
        <p:nvGrpSpPr>
          <p:cNvPr name="Group 21" id="21"/>
          <p:cNvGrpSpPr/>
          <p:nvPr/>
        </p:nvGrpSpPr>
        <p:grpSpPr>
          <a:xfrm rot="0">
            <a:off x="339401" y="4154005"/>
            <a:ext cx="2690458" cy="3205554"/>
            <a:chOff x="0" y="0"/>
            <a:chExt cx="492326" cy="586583"/>
          </a:xfrm>
        </p:grpSpPr>
        <p:sp>
          <p:nvSpPr>
            <p:cNvPr name="Freeform 22" id="22"/>
            <p:cNvSpPr/>
            <p:nvPr/>
          </p:nvSpPr>
          <p:spPr>
            <a:xfrm flipH="false" flipV="false" rot="0">
              <a:off x="0" y="0"/>
              <a:ext cx="492326" cy="586583"/>
            </a:xfrm>
            <a:custGeom>
              <a:avLst/>
              <a:gdLst/>
              <a:ahLst/>
              <a:cxnLst/>
              <a:rect r="r" b="b" t="t" l="l"/>
              <a:pathLst>
                <a:path h="586583" w="492326">
                  <a:moveTo>
                    <a:pt x="0" y="0"/>
                  </a:moveTo>
                  <a:lnTo>
                    <a:pt x="492326" y="0"/>
                  </a:lnTo>
                  <a:lnTo>
                    <a:pt x="492326" y="586583"/>
                  </a:lnTo>
                  <a:lnTo>
                    <a:pt x="0" y="586583"/>
                  </a:lnTo>
                  <a:close/>
                </a:path>
              </a:pathLst>
            </a:custGeom>
            <a:blipFill>
              <a:blip r:embed="rId4"/>
              <a:stretch>
                <a:fillRect l="0" t="-46472" r="0" b="-46472"/>
              </a:stretch>
            </a:blipFill>
          </p:spPr>
        </p:sp>
      </p:grpSp>
      <p:sp>
        <p:nvSpPr>
          <p:cNvPr name="TextBox 23" id="23"/>
          <p:cNvSpPr txBox="true"/>
          <p:nvPr/>
        </p:nvSpPr>
        <p:spPr>
          <a:xfrm rot="0">
            <a:off x="11608517" y="3432845"/>
            <a:ext cx="4891718" cy="415253"/>
          </a:xfrm>
          <a:prstGeom prst="rect">
            <a:avLst/>
          </a:prstGeom>
        </p:spPr>
        <p:txBody>
          <a:bodyPr anchor="t" rtlCol="false" tIns="0" lIns="0" bIns="0" rIns="0">
            <a:spAutoFit/>
          </a:bodyPr>
          <a:lstStyle/>
          <a:p>
            <a:pPr algn="l">
              <a:lnSpc>
                <a:spcPts val="3309"/>
              </a:lnSpc>
            </a:pPr>
            <a:r>
              <a:rPr lang="en-US" sz="2363" b="true">
                <a:solidFill>
                  <a:srgbClr val="39251F"/>
                </a:solidFill>
                <a:latin typeface="Montserrat Bold"/>
                <a:ea typeface="Montserrat Bold"/>
                <a:cs typeface="Montserrat Bold"/>
                <a:sym typeface="Montserrat Bold"/>
              </a:rPr>
              <a:t>Google &amp; Microsoft Office</a:t>
            </a:r>
          </a:p>
        </p:txBody>
      </p:sp>
      <p:sp>
        <p:nvSpPr>
          <p:cNvPr name="TextBox 24" id="24"/>
          <p:cNvSpPr txBox="true"/>
          <p:nvPr/>
        </p:nvSpPr>
        <p:spPr>
          <a:xfrm rot="0">
            <a:off x="11608517" y="4098925"/>
            <a:ext cx="6113715" cy="1044575"/>
          </a:xfrm>
          <a:prstGeom prst="rect">
            <a:avLst/>
          </a:prstGeom>
        </p:spPr>
        <p:txBody>
          <a:bodyPr anchor="t" rtlCol="false" tIns="0" lIns="0" bIns="0" rIns="0">
            <a:spAutoFit/>
          </a:bodyPr>
          <a:lstStyle/>
          <a:p>
            <a:pPr algn="l" marL="431801" indent="-215900" lvl="1">
              <a:lnSpc>
                <a:spcPts val="2800"/>
              </a:lnSpc>
              <a:spcBef>
                <a:spcPct val="0"/>
              </a:spcBef>
              <a:buFont typeface="Arial"/>
              <a:buChar char="•"/>
            </a:pPr>
            <a:r>
              <a:rPr lang="en-US" sz="2000">
                <a:solidFill>
                  <a:srgbClr val="39251F"/>
                </a:solidFill>
                <a:latin typeface="Montserrat"/>
                <a:ea typeface="Montserrat"/>
                <a:cs typeface="Montserrat"/>
                <a:sym typeface="Montserrat"/>
              </a:rPr>
              <a:t>Penyelenggara: Talenta ID</a:t>
            </a:r>
          </a:p>
          <a:p>
            <a:pPr algn="l" marL="431801" indent="-215900" lvl="1">
              <a:lnSpc>
                <a:spcPts val="2800"/>
              </a:lnSpc>
              <a:spcBef>
                <a:spcPct val="0"/>
              </a:spcBef>
              <a:buFont typeface="Arial"/>
              <a:buChar char="•"/>
            </a:pPr>
            <a:r>
              <a:rPr lang="en-US" sz="2000">
                <a:solidFill>
                  <a:srgbClr val="39251F"/>
                </a:solidFill>
                <a:latin typeface="Montserrat"/>
                <a:ea typeface="Montserrat"/>
                <a:cs typeface="Montserrat"/>
                <a:sym typeface="Montserrat"/>
              </a:rPr>
              <a:t>Kompetensi: Microsoft Office, Google Workspace, dan pengolahan data</a:t>
            </a:r>
          </a:p>
        </p:txBody>
      </p:sp>
      <p:grpSp>
        <p:nvGrpSpPr>
          <p:cNvPr name="Group 25" id="25"/>
          <p:cNvGrpSpPr/>
          <p:nvPr/>
        </p:nvGrpSpPr>
        <p:grpSpPr>
          <a:xfrm rot="0">
            <a:off x="11023997" y="6316284"/>
            <a:ext cx="2690458" cy="3205554"/>
            <a:chOff x="0" y="0"/>
            <a:chExt cx="492326" cy="586583"/>
          </a:xfrm>
        </p:grpSpPr>
        <p:sp>
          <p:nvSpPr>
            <p:cNvPr name="Freeform 26" id="26"/>
            <p:cNvSpPr/>
            <p:nvPr/>
          </p:nvSpPr>
          <p:spPr>
            <a:xfrm flipH="false" flipV="false" rot="0">
              <a:off x="0" y="0"/>
              <a:ext cx="492326" cy="586583"/>
            </a:xfrm>
            <a:custGeom>
              <a:avLst/>
              <a:gdLst/>
              <a:ahLst/>
              <a:cxnLst/>
              <a:rect r="r" b="b" t="t" l="l"/>
              <a:pathLst>
                <a:path h="586583" w="492326">
                  <a:moveTo>
                    <a:pt x="0" y="0"/>
                  </a:moveTo>
                  <a:lnTo>
                    <a:pt x="492326" y="0"/>
                  </a:lnTo>
                  <a:lnTo>
                    <a:pt x="492326" y="586583"/>
                  </a:lnTo>
                  <a:lnTo>
                    <a:pt x="0" y="586583"/>
                  </a:lnTo>
                  <a:close/>
                </a:path>
              </a:pathLst>
            </a:custGeom>
            <a:blipFill>
              <a:blip r:embed="rId5"/>
              <a:stretch>
                <a:fillRect l="0" t="-46472" r="0" b="-46472"/>
              </a:stretch>
            </a:blipFill>
          </p:spPr>
        </p:sp>
      </p:grpSp>
      <p:grpSp>
        <p:nvGrpSpPr>
          <p:cNvPr name="Group 27" id="27"/>
          <p:cNvGrpSpPr/>
          <p:nvPr/>
        </p:nvGrpSpPr>
        <p:grpSpPr>
          <a:xfrm rot="0">
            <a:off x="14403884" y="6316284"/>
            <a:ext cx="2690458" cy="3205554"/>
            <a:chOff x="0" y="0"/>
            <a:chExt cx="492326" cy="586583"/>
          </a:xfrm>
        </p:grpSpPr>
        <p:sp>
          <p:nvSpPr>
            <p:cNvPr name="Freeform 28" id="28"/>
            <p:cNvSpPr/>
            <p:nvPr/>
          </p:nvSpPr>
          <p:spPr>
            <a:xfrm flipH="false" flipV="false" rot="0">
              <a:off x="0" y="0"/>
              <a:ext cx="492326" cy="586583"/>
            </a:xfrm>
            <a:custGeom>
              <a:avLst/>
              <a:gdLst/>
              <a:ahLst/>
              <a:cxnLst/>
              <a:rect r="r" b="b" t="t" l="l"/>
              <a:pathLst>
                <a:path h="586583" w="492326">
                  <a:moveTo>
                    <a:pt x="0" y="0"/>
                  </a:moveTo>
                  <a:lnTo>
                    <a:pt x="492326" y="0"/>
                  </a:lnTo>
                  <a:lnTo>
                    <a:pt x="492326" y="586583"/>
                  </a:lnTo>
                  <a:lnTo>
                    <a:pt x="0" y="586583"/>
                  </a:lnTo>
                  <a:close/>
                </a:path>
              </a:pathLst>
            </a:custGeom>
            <a:blipFill>
              <a:blip r:embed="rId6"/>
              <a:stretch>
                <a:fillRect l="-33584" t="0" r="-33584"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883694" y="1608861"/>
            <a:ext cx="3962059" cy="396205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4942" y="0"/>
                  </a:moveTo>
                  <a:lnTo>
                    <a:pt x="767858" y="0"/>
                  </a:lnTo>
                  <a:cubicBezTo>
                    <a:pt x="779777" y="0"/>
                    <a:pt x="791208" y="4735"/>
                    <a:pt x="799637" y="13163"/>
                  </a:cubicBezTo>
                  <a:cubicBezTo>
                    <a:pt x="808065" y="21592"/>
                    <a:pt x="812800" y="33023"/>
                    <a:pt x="812800" y="44942"/>
                  </a:cubicBezTo>
                  <a:lnTo>
                    <a:pt x="812800" y="767858"/>
                  </a:lnTo>
                  <a:cubicBezTo>
                    <a:pt x="812800" y="779777"/>
                    <a:pt x="808065" y="791208"/>
                    <a:pt x="799637" y="799637"/>
                  </a:cubicBezTo>
                  <a:cubicBezTo>
                    <a:pt x="791208" y="808065"/>
                    <a:pt x="779777" y="812800"/>
                    <a:pt x="767858" y="812800"/>
                  </a:cubicBezTo>
                  <a:lnTo>
                    <a:pt x="44942" y="812800"/>
                  </a:lnTo>
                  <a:cubicBezTo>
                    <a:pt x="33023" y="812800"/>
                    <a:pt x="21592" y="808065"/>
                    <a:pt x="13163" y="799637"/>
                  </a:cubicBezTo>
                  <a:cubicBezTo>
                    <a:pt x="4735" y="791208"/>
                    <a:pt x="0" y="779777"/>
                    <a:pt x="0" y="767858"/>
                  </a:cubicBezTo>
                  <a:lnTo>
                    <a:pt x="0" y="44942"/>
                  </a:lnTo>
                  <a:cubicBezTo>
                    <a:pt x="0" y="33023"/>
                    <a:pt x="4735" y="21592"/>
                    <a:pt x="13163" y="13163"/>
                  </a:cubicBezTo>
                  <a:cubicBezTo>
                    <a:pt x="21592" y="4735"/>
                    <a:pt x="33023" y="0"/>
                    <a:pt x="44942" y="0"/>
                  </a:cubicBezTo>
                  <a:close/>
                </a:path>
              </a:pathLst>
            </a:custGeom>
            <a:blipFill>
              <a:blip r:embed="rId2"/>
              <a:stretch>
                <a:fillRect l="0" t="-16666" r="0" b="-16666"/>
              </a:stretch>
            </a:blipFill>
            <a:ln w="95250" cap="rnd">
              <a:solidFill>
                <a:srgbClr val="242D4B"/>
              </a:solidFill>
              <a:prstDash val="solid"/>
              <a:round/>
            </a:ln>
          </p:spPr>
        </p:sp>
      </p:grpSp>
      <p:grpSp>
        <p:nvGrpSpPr>
          <p:cNvPr name="Group 4" id="4"/>
          <p:cNvGrpSpPr/>
          <p:nvPr/>
        </p:nvGrpSpPr>
        <p:grpSpPr>
          <a:xfrm rot="0">
            <a:off x="883694" y="5876403"/>
            <a:ext cx="3962059" cy="396205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4942" y="0"/>
                  </a:moveTo>
                  <a:lnTo>
                    <a:pt x="767858" y="0"/>
                  </a:lnTo>
                  <a:cubicBezTo>
                    <a:pt x="779777" y="0"/>
                    <a:pt x="791208" y="4735"/>
                    <a:pt x="799637" y="13163"/>
                  </a:cubicBezTo>
                  <a:cubicBezTo>
                    <a:pt x="808065" y="21592"/>
                    <a:pt x="812800" y="33023"/>
                    <a:pt x="812800" y="44942"/>
                  </a:cubicBezTo>
                  <a:lnTo>
                    <a:pt x="812800" y="767858"/>
                  </a:lnTo>
                  <a:cubicBezTo>
                    <a:pt x="812800" y="779777"/>
                    <a:pt x="808065" y="791208"/>
                    <a:pt x="799637" y="799637"/>
                  </a:cubicBezTo>
                  <a:cubicBezTo>
                    <a:pt x="791208" y="808065"/>
                    <a:pt x="779777" y="812800"/>
                    <a:pt x="767858" y="812800"/>
                  </a:cubicBezTo>
                  <a:lnTo>
                    <a:pt x="44942" y="812800"/>
                  </a:lnTo>
                  <a:cubicBezTo>
                    <a:pt x="33023" y="812800"/>
                    <a:pt x="21592" y="808065"/>
                    <a:pt x="13163" y="799637"/>
                  </a:cubicBezTo>
                  <a:cubicBezTo>
                    <a:pt x="4735" y="791208"/>
                    <a:pt x="0" y="779777"/>
                    <a:pt x="0" y="767858"/>
                  </a:cubicBezTo>
                  <a:lnTo>
                    <a:pt x="0" y="44942"/>
                  </a:lnTo>
                  <a:cubicBezTo>
                    <a:pt x="0" y="33023"/>
                    <a:pt x="4735" y="21592"/>
                    <a:pt x="13163" y="13163"/>
                  </a:cubicBezTo>
                  <a:cubicBezTo>
                    <a:pt x="21592" y="4735"/>
                    <a:pt x="33023" y="0"/>
                    <a:pt x="44942" y="0"/>
                  </a:cubicBezTo>
                  <a:close/>
                </a:path>
              </a:pathLst>
            </a:custGeom>
            <a:blipFill>
              <a:blip r:embed="rId3"/>
              <a:stretch>
                <a:fillRect l="0" t="0" r="0" b="0"/>
              </a:stretch>
            </a:blipFill>
            <a:ln w="95250" cap="rnd">
              <a:solidFill>
                <a:srgbClr val="242D4B"/>
              </a:solidFill>
              <a:prstDash val="solid"/>
              <a:round/>
            </a:ln>
          </p:spPr>
        </p:sp>
      </p:grpSp>
      <p:grpSp>
        <p:nvGrpSpPr>
          <p:cNvPr name="Group 6" id="6"/>
          <p:cNvGrpSpPr/>
          <p:nvPr/>
        </p:nvGrpSpPr>
        <p:grpSpPr>
          <a:xfrm rot="0">
            <a:off x="5181941" y="3742632"/>
            <a:ext cx="3962059" cy="396205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4942" y="0"/>
                  </a:moveTo>
                  <a:lnTo>
                    <a:pt x="767858" y="0"/>
                  </a:lnTo>
                  <a:cubicBezTo>
                    <a:pt x="779777" y="0"/>
                    <a:pt x="791208" y="4735"/>
                    <a:pt x="799637" y="13163"/>
                  </a:cubicBezTo>
                  <a:cubicBezTo>
                    <a:pt x="808065" y="21592"/>
                    <a:pt x="812800" y="33023"/>
                    <a:pt x="812800" y="44942"/>
                  </a:cubicBezTo>
                  <a:lnTo>
                    <a:pt x="812800" y="767858"/>
                  </a:lnTo>
                  <a:cubicBezTo>
                    <a:pt x="812800" y="779777"/>
                    <a:pt x="808065" y="791208"/>
                    <a:pt x="799637" y="799637"/>
                  </a:cubicBezTo>
                  <a:cubicBezTo>
                    <a:pt x="791208" y="808065"/>
                    <a:pt x="779777" y="812800"/>
                    <a:pt x="767858" y="812800"/>
                  </a:cubicBezTo>
                  <a:lnTo>
                    <a:pt x="44942" y="812800"/>
                  </a:lnTo>
                  <a:cubicBezTo>
                    <a:pt x="33023" y="812800"/>
                    <a:pt x="21592" y="808065"/>
                    <a:pt x="13163" y="799637"/>
                  </a:cubicBezTo>
                  <a:cubicBezTo>
                    <a:pt x="4735" y="791208"/>
                    <a:pt x="0" y="779777"/>
                    <a:pt x="0" y="767858"/>
                  </a:cubicBezTo>
                  <a:lnTo>
                    <a:pt x="0" y="44942"/>
                  </a:lnTo>
                  <a:cubicBezTo>
                    <a:pt x="0" y="33023"/>
                    <a:pt x="4735" y="21592"/>
                    <a:pt x="13163" y="13163"/>
                  </a:cubicBezTo>
                  <a:cubicBezTo>
                    <a:pt x="21592" y="4735"/>
                    <a:pt x="33023" y="0"/>
                    <a:pt x="44942" y="0"/>
                  </a:cubicBezTo>
                  <a:close/>
                </a:path>
              </a:pathLst>
            </a:custGeom>
            <a:blipFill>
              <a:blip r:embed="rId4"/>
              <a:stretch>
                <a:fillRect l="-16747" t="0" r="-16747" b="0"/>
              </a:stretch>
            </a:blipFill>
            <a:ln w="95250" cap="rnd">
              <a:solidFill>
                <a:srgbClr val="242D4B"/>
              </a:solidFill>
              <a:prstDash val="solid"/>
              <a:round/>
            </a:ln>
          </p:spPr>
        </p:sp>
      </p:grpSp>
      <p:sp>
        <p:nvSpPr>
          <p:cNvPr name="TextBox 8" id="8"/>
          <p:cNvSpPr txBox="true"/>
          <p:nvPr/>
        </p:nvSpPr>
        <p:spPr>
          <a:xfrm rot="0">
            <a:off x="7307977" y="1446655"/>
            <a:ext cx="10177449" cy="1526539"/>
          </a:xfrm>
          <a:prstGeom prst="rect">
            <a:avLst/>
          </a:prstGeom>
        </p:spPr>
        <p:txBody>
          <a:bodyPr anchor="t" rtlCol="false" tIns="0" lIns="0" bIns="0" rIns="0">
            <a:spAutoFit/>
          </a:bodyPr>
          <a:lstStyle/>
          <a:p>
            <a:pPr algn="r">
              <a:lnSpc>
                <a:spcPts val="4060"/>
              </a:lnSpc>
            </a:pPr>
            <a:r>
              <a:rPr lang="en-US" sz="2900" b="true">
                <a:solidFill>
                  <a:srgbClr val="242D4B"/>
                </a:solidFill>
                <a:latin typeface="Glacial Indifference Bold"/>
                <a:ea typeface="Glacial Indifference Bold"/>
                <a:cs typeface="Glacial Indifference Bold"/>
                <a:sym typeface="Glacial Indifference Bold"/>
              </a:rPr>
              <a:t>Intenship Safety, Health &amp; Environment (HSE)</a:t>
            </a:r>
          </a:p>
          <a:p>
            <a:pPr algn="r">
              <a:lnSpc>
                <a:spcPts val="4060"/>
              </a:lnSpc>
            </a:pPr>
            <a:r>
              <a:rPr lang="en-US" sz="2900" b="true">
                <a:solidFill>
                  <a:srgbClr val="242D4B"/>
                </a:solidFill>
                <a:latin typeface="Glacial Indifference Bold"/>
                <a:ea typeface="Glacial Indifference Bold"/>
                <a:cs typeface="Glacial Indifference Bold"/>
                <a:sym typeface="Glacial Indifference Bold"/>
              </a:rPr>
              <a:t>PT Semen Tonasa </a:t>
            </a:r>
          </a:p>
          <a:p>
            <a:pPr algn="r">
              <a:lnSpc>
                <a:spcPts val="4060"/>
              </a:lnSpc>
              <a:spcBef>
                <a:spcPct val="0"/>
              </a:spcBef>
            </a:pPr>
          </a:p>
        </p:txBody>
      </p:sp>
      <p:sp>
        <p:nvSpPr>
          <p:cNvPr name="TextBox 9" id="9"/>
          <p:cNvSpPr txBox="true"/>
          <p:nvPr/>
        </p:nvSpPr>
        <p:spPr>
          <a:xfrm rot="0">
            <a:off x="10306276" y="2925569"/>
            <a:ext cx="6953024" cy="3337557"/>
          </a:xfrm>
          <a:prstGeom prst="rect">
            <a:avLst/>
          </a:prstGeom>
        </p:spPr>
        <p:txBody>
          <a:bodyPr anchor="t" rtlCol="false" tIns="0" lIns="0" bIns="0" rIns="0">
            <a:spAutoFit/>
          </a:bodyPr>
          <a:lstStyle/>
          <a:p>
            <a:pPr algn="l" marL="453413" indent="-226706" lvl="1">
              <a:lnSpc>
                <a:spcPts val="2940"/>
              </a:lnSpc>
              <a:buFont typeface="Arial"/>
              <a:buChar char="•"/>
            </a:pPr>
            <a:r>
              <a:rPr lang="en-US" sz="2100">
                <a:solidFill>
                  <a:srgbClr val="242D4B"/>
                </a:solidFill>
                <a:latin typeface="Glacial Indifference"/>
                <a:ea typeface="Glacial Indifference"/>
                <a:cs typeface="Glacial Indifference"/>
                <a:sym typeface="Glacial Indifference"/>
              </a:rPr>
              <a:t>A</a:t>
            </a:r>
            <a:r>
              <a:rPr lang="en-US" sz="2100">
                <a:solidFill>
                  <a:srgbClr val="242D4B"/>
                </a:solidFill>
                <a:latin typeface="Glacial Indifference"/>
                <a:ea typeface="Glacial Indifference"/>
                <a:cs typeface="Glacial Indifference"/>
                <a:sym typeface="Glacial Indifference"/>
              </a:rPr>
              <a:t>ssisted in monitoring and evaluating workplace safety and environmental compliance.</a:t>
            </a:r>
          </a:p>
          <a:p>
            <a:pPr algn="l" marL="453413" indent="-226706" lvl="1">
              <a:lnSpc>
                <a:spcPts val="2940"/>
              </a:lnSpc>
              <a:buFont typeface="Arial"/>
              <a:buChar char="•"/>
            </a:pPr>
            <a:r>
              <a:rPr lang="en-US" sz="2100">
                <a:solidFill>
                  <a:srgbClr val="242D4B"/>
                </a:solidFill>
                <a:latin typeface="Glacial Indifference"/>
                <a:ea typeface="Glacial Indifference"/>
                <a:cs typeface="Glacial Indifference"/>
                <a:sym typeface="Glacial Indifference"/>
              </a:rPr>
              <a:t>Supported the implementation of Occupational Health and Safety (OHS) programs and training. June 2022—August 2022 </a:t>
            </a:r>
          </a:p>
          <a:p>
            <a:pPr algn="l" marL="453413" indent="-226706" lvl="1">
              <a:lnSpc>
                <a:spcPts val="2940"/>
              </a:lnSpc>
              <a:buFont typeface="Arial"/>
              <a:buChar char="•"/>
            </a:pPr>
            <a:r>
              <a:rPr lang="en-US" sz="2100">
                <a:solidFill>
                  <a:srgbClr val="242D4B"/>
                </a:solidFill>
                <a:latin typeface="Glacial Indifference"/>
                <a:ea typeface="Glacial Indifference"/>
                <a:cs typeface="Glacial Indifference"/>
                <a:sym typeface="Glacial Indifference"/>
              </a:rPr>
              <a:t>Contributed to documentation and reporting of safety inspections and environmental management. Collaborated with the HSE team to promote a safe and eco-friendly work culture. </a:t>
            </a:r>
          </a:p>
        </p:txBody>
      </p:sp>
      <p:grpSp>
        <p:nvGrpSpPr>
          <p:cNvPr name="Group 10" id="10"/>
          <p:cNvGrpSpPr/>
          <p:nvPr/>
        </p:nvGrpSpPr>
        <p:grpSpPr>
          <a:xfrm rot="0">
            <a:off x="339401" y="169862"/>
            <a:ext cx="16160834" cy="734367"/>
            <a:chOff x="0" y="0"/>
            <a:chExt cx="21547778" cy="979155"/>
          </a:xfrm>
        </p:grpSpPr>
        <p:grpSp>
          <p:nvGrpSpPr>
            <p:cNvPr name="Group 11" id="11"/>
            <p:cNvGrpSpPr/>
            <p:nvPr/>
          </p:nvGrpSpPr>
          <p:grpSpPr>
            <a:xfrm rot="0">
              <a:off x="0" y="0"/>
              <a:ext cx="21547778" cy="979155"/>
              <a:chOff x="0" y="0"/>
              <a:chExt cx="8943439" cy="406400"/>
            </a:xfrm>
          </p:grpSpPr>
          <p:sp>
            <p:nvSpPr>
              <p:cNvPr name="Freeform 12" id="12"/>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13" id="13"/>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15" id="15"/>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16" id="16"/>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Experiences</a:t>
              </a:r>
            </a:p>
          </p:txBody>
        </p:sp>
        <p:sp>
          <p:nvSpPr>
            <p:cNvPr name="TextBox 17" id="17"/>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18" id="18"/>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Skills</a:t>
              </a:r>
            </a:p>
          </p:txBody>
        </p:sp>
        <p:sp>
          <p:nvSpPr>
            <p:cNvPr name="TextBox 19" id="19"/>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Project</a:t>
              </a:r>
            </a:p>
          </p:txBody>
        </p:sp>
        <p:sp>
          <p:nvSpPr>
            <p:cNvPr name="TextBox 20" id="20"/>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21" id="21"/>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010193" y="1852279"/>
            <a:ext cx="5406675" cy="7920371"/>
            <a:chOff x="0" y="0"/>
            <a:chExt cx="7208901" cy="10560495"/>
          </a:xfrm>
        </p:grpSpPr>
        <p:pic>
          <p:nvPicPr>
            <p:cNvPr name="Picture 3" id="3"/>
            <p:cNvPicPr>
              <a:picLocks noChangeAspect="true"/>
            </p:cNvPicPr>
            <p:nvPr/>
          </p:nvPicPr>
          <p:blipFill>
            <a:blip r:embed="rId2"/>
            <a:srcRect l="0" t="1756" r="0" b="1756"/>
            <a:stretch>
              <a:fillRect/>
            </a:stretch>
          </p:blipFill>
          <p:spPr>
            <a:xfrm flipH="false" flipV="false">
              <a:off x="0" y="0"/>
              <a:ext cx="7208901" cy="5216747"/>
            </a:xfrm>
            <a:prstGeom prst="rect">
              <a:avLst/>
            </a:prstGeom>
          </p:spPr>
        </p:pic>
        <p:pic>
          <p:nvPicPr>
            <p:cNvPr name="Picture 4" id="4"/>
            <p:cNvPicPr>
              <a:picLocks noChangeAspect="true"/>
            </p:cNvPicPr>
            <p:nvPr/>
          </p:nvPicPr>
          <p:blipFill>
            <a:blip r:embed="rId3"/>
            <a:srcRect l="4748" t="0" r="4748" b="0"/>
            <a:stretch>
              <a:fillRect/>
            </a:stretch>
          </p:blipFill>
          <p:spPr>
            <a:xfrm flipH="false" flipV="false">
              <a:off x="0" y="5343747"/>
              <a:ext cx="3540950" cy="5216747"/>
            </a:xfrm>
            <a:prstGeom prst="rect">
              <a:avLst/>
            </a:prstGeom>
          </p:spPr>
        </p:pic>
        <p:pic>
          <p:nvPicPr>
            <p:cNvPr name="Picture 5" id="5"/>
            <p:cNvPicPr>
              <a:picLocks noChangeAspect="true"/>
            </p:cNvPicPr>
            <p:nvPr/>
          </p:nvPicPr>
          <p:blipFill>
            <a:blip r:embed="rId4"/>
            <a:srcRect l="4748" t="0" r="4748" b="0"/>
            <a:stretch>
              <a:fillRect/>
            </a:stretch>
          </p:blipFill>
          <p:spPr>
            <a:xfrm flipH="false" flipV="false">
              <a:off x="3667950" y="5343747"/>
              <a:ext cx="3540950" cy="5216747"/>
            </a:xfrm>
            <a:prstGeom prst="rect">
              <a:avLst/>
            </a:prstGeom>
          </p:spPr>
        </p:pic>
      </p:grpSp>
      <p:grpSp>
        <p:nvGrpSpPr>
          <p:cNvPr name="Group 6" id="6"/>
          <p:cNvGrpSpPr/>
          <p:nvPr/>
        </p:nvGrpSpPr>
        <p:grpSpPr>
          <a:xfrm rot="0">
            <a:off x="14539851" y="514350"/>
            <a:ext cx="3078627" cy="9258300"/>
            <a:chOff x="0" y="0"/>
            <a:chExt cx="4104836" cy="12344400"/>
          </a:xfrm>
        </p:grpSpPr>
        <p:pic>
          <p:nvPicPr>
            <p:cNvPr name="Picture 7" id="7"/>
            <p:cNvPicPr>
              <a:picLocks noChangeAspect="true"/>
            </p:cNvPicPr>
            <p:nvPr/>
          </p:nvPicPr>
          <p:blipFill>
            <a:blip r:embed="rId5"/>
            <a:srcRect l="0" t="13182" r="0" b="13182"/>
            <a:stretch>
              <a:fillRect/>
            </a:stretch>
          </p:blipFill>
          <p:spPr>
            <a:xfrm flipH="false" flipV="false">
              <a:off x="0" y="0"/>
              <a:ext cx="4104836" cy="4030133"/>
            </a:xfrm>
            <a:prstGeom prst="rect">
              <a:avLst/>
            </a:prstGeom>
          </p:spPr>
        </p:pic>
        <p:pic>
          <p:nvPicPr>
            <p:cNvPr name="Picture 8" id="8"/>
            <p:cNvPicPr>
              <a:picLocks noChangeAspect="true"/>
            </p:cNvPicPr>
            <p:nvPr/>
          </p:nvPicPr>
          <p:blipFill>
            <a:blip r:embed="rId6"/>
            <a:srcRect l="0" t="13182" r="0" b="13182"/>
            <a:stretch>
              <a:fillRect/>
            </a:stretch>
          </p:blipFill>
          <p:spPr>
            <a:xfrm flipH="false" flipV="false">
              <a:off x="0" y="4157133"/>
              <a:ext cx="4104836" cy="4030133"/>
            </a:xfrm>
            <a:prstGeom prst="rect">
              <a:avLst/>
            </a:prstGeom>
          </p:spPr>
        </p:pic>
        <p:pic>
          <p:nvPicPr>
            <p:cNvPr name="Picture 9" id="9"/>
            <p:cNvPicPr>
              <a:picLocks noChangeAspect="true"/>
            </p:cNvPicPr>
            <p:nvPr/>
          </p:nvPicPr>
          <p:blipFill>
            <a:blip r:embed="rId7"/>
            <a:srcRect l="0" t="13182" r="0" b="13182"/>
            <a:stretch>
              <a:fillRect/>
            </a:stretch>
          </p:blipFill>
          <p:spPr>
            <a:xfrm flipH="false" flipV="false">
              <a:off x="0" y="8314267"/>
              <a:ext cx="4104836" cy="4030133"/>
            </a:xfrm>
            <a:prstGeom prst="rect">
              <a:avLst/>
            </a:prstGeom>
          </p:spPr>
        </p:pic>
      </p:grpSp>
      <p:sp>
        <p:nvSpPr>
          <p:cNvPr name="TextBox 10" id="10"/>
          <p:cNvSpPr txBox="true"/>
          <p:nvPr/>
        </p:nvSpPr>
        <p:spPr>
          <a:xfrm rot="0">
            <a:off x="225634" y="3325044"/>
            <a:ext cx="5885707" cy="4597400"/>
          </a:xfrm>
          <a:prstGeom prst="rect">
            <a:avLst/>
          </a:prstGeom>
        </p:spPr>
        <p:txBody>
          <a:bodyPr anchor="t" rtlCol="false" tIns="0" lIns="0" bIns="0" rIns="0">
            <a:spAutoFit/>
          </a:bodyPr>
          <a:lstStyle/>
          <a:p>
            <a:pPr algn="just" marL="431801" indent="-215900" lvl="1">
              <a:lnSpc>
                <a:spcPts val="2800"/>
              </a:lnSpc>
              <a:buFont typeface="Arial"/>
              <a:buChar char="•"/>
            </a:pPr>
            <a:r>
              <a:rPr lang="en-US" sz="2000">
                <a:solidFill>
                  <a:srgbClr val="39251F"/>
                </a:solidFill>
                <a:latin typeface="Poppins"/>
                <a:ea typeface="Poppins"/>
                <a:cs typeface="Poppins"/>
                <a:sym typeface="Poppins"/>
              </a:rPr>
              <a:t>Oversaw rural electrification projects under the Listrik Desa (Lisdes) program, ensuring compliance with ESDM regulations and technical standards.</a:t>
            </a:r>
          </a:p>
          <a:p>
            <a:pPr algn="just" marL="431801" indent="-215900" lvl="1">
              <a:lnSpc>
                <a:spcPts val="2800"/>
              </a:lnSpc>
              <a:buFont typeface="Arial"/>
              <a:buChar char="•"/>
            </a:pPr>
            <a:r>
              <a:rPr lang="en-US" sz="2000">
                <a:solidFill>
                  <a:srgbClr val="39251F"/>
                </a:solidFill>
                <a:latin typeface="Poppins"/>
                <a:ea typeface="Poppins"/>
                <a:cs typeface="Poppins"/>
                <a:sym typeface="Poppins"/>
              </a:rPr>
              <a:t>Conducted on-site inspections of electrical installations, poles, cables, and materials to ensure quality and safety.  </a:t>
            </a:r>
          </a:p>
          <a:p>
            <a:pPr algn="just" marL="431801" indent="-215900" lvl="1">
              <a:lnSpc>
                <a:spcPts val="2800"/>
              </a:lnSpc>
              <a:buFont typeface="Arial"/>
              <a:buChar char="•"/>
            </a:pPr>
            <a:r>
              <a:rPr lang="en-US" sz="2000">
                <a:solidFill>
                  <a:srgbClr val="39251F"/>
                </a:solidFill>
                <a:latin typeface="Poppins"/>
                <a:ea typeface="Poppins"/>
                <a:cs typeface="Poppins"/>
                <a:sym typeface="Poppins"/>
              </a:rPr>
              <a:t>Identified and mitigated technical risks while enforcing Electrical Occupational Health and Safety (OHS) standards. </a:t>
            </a:r>
          </a:p>
          <a:p>
            <a:pPr algn="just" marL="431801" indent="-215900" lvl="1">
              <a:lnSpc>
                <a:spcPts val="2800"/>
              </a:lnSpc>
              <a:buFont typeface="Arial"/>
              <a:buChar char="•"/>
            </a:pPr>
            <a:r>
              <a:rPr lang="en-US" sz="2000">
                <a:solidFill>
                  <a:srgbClr val="39251F"/>
                </a:solidFill>
                <a:latin typeface="Poppins"/>
                <a:ea typeface="Poppins"/>
                <a:cs typeface="Poppins"/>
                <a:sym typeface="Poppins"/>
              </a:rPr>
              <a:t>Coordinated with contractors and stakeholders, and prepared progress and supervision reports.</a:t>
            </a:r>
          </a:p>
        </p:txBody>
      </p:sp>
      <p:grpSp>
        <p:nvGrpSpPr>
          <p:cNvPr name="Group 11" id="11"/>
          <p:cNvGrpSpPr/>
          <p:nvPr/>
        </p:nvGrpSpPr>
        <p:grpSpPr>
          <a:xfrm rot="5400000">
            <a:off x="0" y="8274868"/>
            <a:ext cx="2265362" cy="2265362"/>
            <a:chOff x="0" y="0"/>
            <a:chExt cx="558800" cy="558800"/>
          </a:xfrm>
        </p:grpSpPr>
        <p:sp>
          <p:nvSpPr>
            <p:cNvPr name="Freeform 12" id="12"/>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FFC2C2"/>
            </a:solidFill>
          </p:spPr>
        </p:sp>
        <p:sp>
          <p:nvSpPr>
            <p:cNvPr name="TextBox 13" id="13"/>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225634" y="1966579"/>
            <a:ext cx="8784560" cy="945811"/>
          </a:xfrm>
          <a:prstGeom prst="rect">
            <a:avLst/>
          </a:prstGeom>
        </p:spPr>
        <p:txBody>
          <a:bodyPr anchor="t" rtlCol="false" tIns="0" lIns="0" bIns="0" rIns="0">
            <a:spAutoFit/>
          </a:bodyPr>
          <a:lstStyle/>
          <a:p>
            <a:pPr algn="just">
              <a:lnSpc>
                <a:spcPts val="6976"/>
              </a:lnSpc>
            </a:pPr>
            <a:r>
              <a:rPr lang="en-US" b="true" sz="6906">
                <a:solidFill>
                  <a:srgbClr val="39251F"/>
                </a:solidFill>
                <a:latin typeface="Bebas Neue Bold"/>
                <a:ea typeface="Bebas Neue Bold"/>
                <a:cs typeface="Bebas Neue Bold"/>
                <a:sym typeface="Bebas Neue Bold"/>
              </a:rPr>
              <a:t>PENGAWAS LISTRIK DESA </a:t>
            </a:r>
          </a:p>
        </p:txBody>
      </p:sp>
      <p:sp>
        <p:nvSpPr>
          <p:cNvPr name="TextBox 15" id="15"/>
          <p:cNvSpPr txBox="true"/>
          <p:nvPr/>
        </p:nvSpPr>
        <p:spPr>
          <a:xfrm rot="0">
            <a:off x="225634" y="2666939"/>
            <a:ext cx="7604306" cy="372432"/>
          </a:xfrm>
          <a:prstGeom prst="rect">
            <a:avLst/>
          </a:prstGeom>
        </p:spPr>
        <p:txBody>
          <a:bodyPr anchor="t" rtlCol="false" tIns="0" lIns="0" bIns="0" rIns="0">
            <a:spAutoFit/>
          </a:bodyPr>
          <a:lstStyle/>
          <a:p>
            <a:pPr algn="just">
              <a:lnSpc>
                <a:spcPts val="3097"/>
              </a:lnSpc>
            </a:pPr>
            <a:r>
              <a:rPr lang="en-US" sz="2212">
                <a:solidFill>
                  <a:srgbClr val="39251F"/>
                </a:solidFill>
                <a:latin typeface="Montserrat"/>
                <a:ea typeface="Montserrat"/>
                <a:cs typeface="Montserrat"/>
                <a:sym typeface="Montserrat"/>
              </a:rPr>
              <a:t>Balai Besar Survei</a:t>
            </a:r>
            <a:r>
              <a:rPr lang="en-US" sz="2212">
                <a:solidFill>
                  <a:srgbClr val="39251F"/>
                </a:solidFill>
                <a:latin typeface="Montserrat"/>
                <a:ea typeface="Montserrat"/>
                <a:cs typeface="Montserrat"/>
                <a:sym typeface="Montserrat"/>
              </a:rPr>
              <a:t> dan Pengujian (BBSP) KEBTKE</a:t>
            </a:r>
          </a:p>
        </p:txBody>
      </p:sp>
      <p:grpSp>
        <p:nvGrpSpPr>
          <p:cNvPr name="Group 16" id="16"/>
          <p:cNvGrpSpPr/>
          <p:nvPr/>
        </p:nvGrpSpPr>
        <p:grpSpPr>
          <a:xfrm rot="0">
            <a:off x="339401" y="169862"/>
            <a:ext cx="16160834" cy="734367"/>
            <a:chOff x="0" y="0"/>
            <a:chExt cx="21547778" cy="979155"/>
          </a:xfrm>
        </p:grpSpPr>
        <p:grpSp>
          <p:nvGrpSpPr>
            <p:cNvPr name="Group 17" id="17"/>
            <p:cNvGrpSpPr/>
            <p:nvPr/>
          </p:nvGrpSpPr>
          <p:grpSpPr>
            <a:xfrm rot="0">
              <a:off x="0" y="0"/>
              <a:ext cx="21547778" cy="979155"/>
              <a:chOff x="0" y="0"/>
              <a:chExt cx="8943439" cy="406400"/>
            </a:xfrm>
          </p:grpSpPr>
          <p:sp>
            <p:nvSpPr>
              <p:cNvPr name="Freeform 18" id="18"/>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19" id="19"/>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21" id="21"/>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22" id="22"/>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Experiences</a:t>
              </a:r>
            </a:p>
          </p:txBody>
        </p:sp>
        <p:sp>
          <p:nvSpPr>
            <p:cNvPr name="TextBox 23" id="23"/>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24" id="24"/>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Skills</a:t>
              </a:r>
            </a:p>
          </p:txBody>
        </p:sp>
        <p:sp>
          <p:nvSpPr>
            <p:cNvPr name="TextBox 25" id="25"/>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Project</a:t>
              </a:r>
            </a:p>
          </p:txBody>
        </p:sp>
        <p:sp>
          <p:nvSpPr>
            <p:cNvPr name="TextBox 26" id="26"/>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27" id="27"/>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320056" y="5910641"/>
            <a:ext cx="3962059" cy="396205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4942" y="0"/>
                  </a:moveTo>
                  <a:lnTo>
                    <a:pt x="767858" y="0"/>
                  </a:lnTo>
                  <a:cubicBezTo>
                    <a:pt x="779777" y="0"/>
                    <a:pt x="791208" y="4735"/>
                    <a:pt x="799637" y="13163"/>
                  </a:cubicBezTo>
                  <a:cubicBezTo>
                    <a:pt x="808065" y="21592"/>
                    <a:pt x="812800" y="33023"/>
                    <a:pt x="812800" y="44942"/>
                  </a:cubicBezTo>
                  <a:lnTo>
                    <a:pt x="812800" y="767858"/>
                  </a:lnTo>
                  <a:cubicBezTo>
                    <a:pt x="812800" y="779777"/>
                    <a:pt x="808065" y="791208"/>
                    <a:pt x="799637" y="799637"/>
                  </a:cubicBezTo>
                  <a:cubicBezTo>
                    <a:pt x="791208" y="808065"/>
                    <a:pt x="779777" y="812800"/>
                    <a:pt x="767858" y="812800"/>
                  </a:cubicBezTo>
                  <a:lnTo>
                    <a:pt x="44942" y="812800"/>
                  </a:lnTo>
                  <a:cubicBezTo>
                    <a:pt x="33023" y="812800"/>
                    <a:pt x="21592" y="808065"/>
                    <a:pt x="13163" y="799637"/>
                  </a:cubicBezTo>
                  <a:cubicBezTo>
                    <a:pt x="4735" y="791208"/>
                    <a:pt x="0" y="779777"/>
                    <a:pt x="0" y="767858"/>
                  </a:cubicBezTo>
                  <a:lnTo>
                    <a:pt x="0" y="44942"/>
                  </a:lnTo>
                  <a:cubicBezTo>
                    <a:pt x="0" y="33023"/>
                    <a:pt x="4735" y="21592"/>
                    <a:pt x="13163" y="13163"/>
                  </a:cubicBezTo>
                  <a:cubicBezTo>
                    <a:pt x="21592" y="4735"/>
                    <a:pt x="33023" y="0"/>
                    <a:pt x="44942" y="0"/>
                  </a:cubicBezTo>
                  <a:close/>
                </a:path>
              </a:pathLst>
            </a:custGeom>
            <a:blipFill>
              <a:blip r:embed="rId2"/>
              <a:stretch>
                <a:fillRect l="0" t="-49999" r="0" b="-50000"/>
              </a:stretch>
            </a:blipFill>
            <a:ln w="95250" cap="rnd">
              <a:solidFill>
                <a:srgbClr val="242D4B"/>
              </a:solidFill>
              <a:prstDash val="solid"/>
              <a:round/>
            </a:ln>
          </p:spPr>
        </p:sp>
      </p:grpSp>
      <p:grpSp>
        <p:nvGrpSpPr>
          <p:cNvPr name="Group 4" id="4"/>
          <p:cNvGrpSpPr/>
          <p:nvPr/>
        </p:nvGrpSpPr>
        <p:grpSpPr>
          <a:xfrm rot="0">
            <a:off x="883694" y="5876403"/>
            <a:ext cx="3962059" cy="396205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4942" y="0"/>
                  </a:moveTo>
                  <a:lnTo>
                    <a:pt x="767858" y="0"/>
                  </a:lnTo>
                  <a:cubicBezTo>
                    <a:pt x="779777" y="0"/>
                    <a:pt x="791208" y="4735"/>
                    <a:pt x="799637" y="13163"/>
                  </a:cubicBezTo>
                  <a:cubicBezTo>
                    <a:pt x="808065" y="21592"/>
                    <a:pt x="812800" y="33023"/>
                    <a:pt x="812800" y="44942"/>
                  </a:cubicBezTo>
                  <a:lnTo>
                    <a:pt x="812800" y="767858"/>
                  </a:lnTo>
                  <a:cubicBezTo>
                    <a:pt x="812800" y="779777"/>
                    <a:pt x="808065" y="791208"/>
                    <a:pt x="799637" y="799637"/>
                  </a:cubicBezTo>
                  <a:cubicBezTo>
                    <a:pt x="791208" y="808065"/>
                    <a:pt x="779777" y="812800"/>
                    <a:pt x="767858" y="812800"/>
                  </a:cubicBezTo>
                  <a:lnTo>
                    <a:pt x="44942" y="812800"/>
                  </a:lnTo>
                  <a:cubicBezTo>
                    <a:pt x="33023" y="812800"/>
                    <a:pt x="21592" y="808065"/>
                    <a:pt x="13163" y="799637"/>
                  </a:cubicBezTo>
                  <a:cubicBezTo>
                    <a:pt x="4735" y="791208"/>
                    <a:pt x="0" y="779777"/>
                    <a:pt x="0" y="767858"/>
                  </a:cubicBezTo>
                  <a:lnTo>
                    <a:pt x="0" y="44942"/>
                  </a:lnTo>
                  <a:cubicBezTo>
                    <a:pt x="0" y="33023"/>
                    <a:pt x="4735" y="21592"/>
                    <a:pt x="13163" y="13163"/>
                  </a:cubicBezTo>
                  <a:cubicBezTo>
                    <a:pt x="21592" y="4735"/>
                    <a:pt x="33023" y="0"/>
                    <a:pt x="44942" y="0"/>
                  </a:cubicBezTo>
                  <a:close/>
                </a:path>
              </a:pathLst>
            </a:custGeom>
            <a:blipFill>
              <a:blip r:embed="rId3"/>
              <a:stretch>
                <a:fillRect l="-16666" t="0" r="-16666" b="0"/>
              </a:stretch>
            </a:blipFill>
            <a:ln w="95250" cap="rnd">
              <a:solidFill>
                <a:srgbClr val="242D4B"/>
              </a:solidFill>
              <a:prstDash val="solid"/>
              <a:round/>
            </a:ln>
          </p:spPr>
        </p:sp>
      </p:grpSp>
      <p:grpSp>
        <p:nvGrpSpPr>
          <p:cNvPr name="Group 6" id="6"/>
          <p:cNvGrpSpPr/>
          <p:nvPr/>
        </p:nvGrpSpPr>
        <p:grpSpPr>
          <a:xfrm rot="0">
            <a:off x="5100822" y="5910641"/>
            <a:ext cx="3962059" cy="396205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4942" y="0"/>
                  </a:moveTo>
                  <a:lnTo>
                    <a:pt x="767858" y="0"/>
                  </a:lnTo>
                  <a:cubicBezTo>
                    <a:pt x="779777" y="0"/>
                    <a:pt x="791208" y="4735"/>
                    <a:pt x="799637" y="13163"/>
                  </a:cubicBezTo>
                  <a:cubicBezTo>
                    <a:pt x="808065" y="21592"/>
                    <a:pt x="812800" y="33023"/>
                    <a:pt x="812800" y="44942"/>
                  </a:cubicBezTo>
                  <a:lnTo>
                    <a:pt x="812800" y="767858"/>
                  </a:lnTo>
                  <a:cubicBezTo>
                    <a:pt x="812800" y="779777"/>
                    <a:pt x="808065" y="791208"/>
                    <a:pt x="799637" y="799637"/>
                  </a:cubicBezTo>
                  <a:cubicBezTo>
                    <a:pt x="791208" y="808065"/>
                    <a:pt x="779777" y="812800"/>
                    <a:pt x="767858" y="812800"/>
                  </a:cubicBezTo>
                  <a:lnTo>
                    <a:pt x="44942" y="812800"/>
                  </a:lnTo>
                  <a:cubicBezTo>
                    <a:pt x="33023" y="812800"/>
                    <a:pt x="21592" y="808065"/>
                    <a:pt x="13163" y="799637"/>
                  </a:cubicBezTo>
                  <a:cubicBezTo>
                    <a:pt x="4735" y="791208"/>
                    <a:pt x="0" y="779777"/>
                    <a:pt x="0" y="767858"/>
                  </a:cubicBezTo>
                  <a:lnTo>
                    <a:pt x="0" y="44942"/>
                  </a:lnTo>
                  <a:cubicBezTo>
                    <a:pt x="0" y="33023"/>
                    <a:pt x="4735" y="21592"/>
                    <a:pt x="13163" y="13163"/>
                  </a:cubicBezTo>
                  <a:cubicBezTo>
                    <a:pt x="21592" y="4735"/>
                    <a:pt x="33023" y="0"/>
                    <a:pt x="44942" y="0"/>
                  </a:cubicBezTo>
                  <a:close/>
                </a:path>
              </a:pathLst>
            </a:custGeom>
            <a:blipFill>
              <a:blip r:embed="rId4"/>
              <a:stretch>
                <a:fillRect l="-16666" t="0" r="-16666" b="0"/>
              </a:stretch>
            </a:blipFill>
            <a:ln w="95250" cap="rnd">
              <a:solidFill>
                <a:srgbClr val="242D4B"/>
              </a:solidFill>
              <a:prstDash val="solid"/>
              <a:round/>
            </a:ln>
          </p:spPr>
        </p:sp>
      </p:grpSp>
      <p:grpSp>
        <p:nvGrpSpPr>
          <p:cNvPr name="Group 8" id="8"/>
          <p:cNvGrpSpPr/>
          <p:nvPr/>
        </p:nvGrpSpPr>
        <p:grpSpPr>
          <a:xfrm rot="0">
            <a:off x="339401" y="169862"/>
            <a:ext cx="16160834" cy="734367"/>
            <a:chOff x="0" y="0"/>
            <a:chExt cx="21547778" cy="979155"/>
          </a:xfrm>
        </p:grpSpPr>
        <p:grpSp>
          <p:nvGrpSpPr>
            <p:cNvPr name="Group 9" id="9"/>
            <p:cNvGrpSpPr/>
            <p:nvPr/>
          </p:nvGrpSpPr>
          <p:grpSpPr>
            <a:xfrm rot="0">
              <a:off x="0" y="0"/>
              <a:ext cx="21547778" cy="979155"/>
              <a:chOff x="0" y="0"/>
              <a:chExt cx="8943439" cy="406400"/>
            </a:xfrm>
          </p:grpSpPr>
          <p:sp>
            <p:nvSpPr>
              <p:cNvPr name="Freeform 10" id="10"/>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11" id="11"/>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13" id="13"/>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14" id="14"/>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Experiences</a:t>
              </a:r>
            </a:p>
          </p:txBody>
        </p:sp>
        <p:sp>
          <p:nvSpPr>
            <p:cNvPr name="TextBox 15" id="15"/>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16" id="16"/>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Skills</a:t>
              </a:r>
            </a:p>
          </p:txBody>
        </p:sp>
        <p:sp>
          <p:nvSpPr>
            <p:cNvPr name="TextBox 17" id="17"/>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Project</a:t>
              </a:r>
            </a:p>
          </p:txBody>
        </p:sp>
        <p:sp>
          <p:nvSpPr>
            <p:cNvPr name="TextBox 18" id="18"/>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19" id="19"/>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sp>
        <p:nvSpPr>
          <p:cNvPr name="Freeform 20" id="20"/>
          <p:cNvSpPr/>
          <p:nvPr/>
        </p:nvSpPr>
        <p:spPr>
          <a:xfrm flipH="false" flipV="false" rot="0">
            <a:off x="10779379" y="3542998"/>
            <a:ext cx="5806483" cy="802522"/>
          </a:xfrm>
          <a:custGeom>
            <a:avLst/>
            <a:gdLst/>
            <a:ahLst/>
            <a:cxnLst/>
            <a:rect r="r" b="b" t="t" l="l"/>
            <a:pathLst>
              <a:path h="802522" w="5806483">
                <a:moveTo>
                  <a:pt x="0" y="0"/>
                </a:moveTo>
                <a:lnTo>
                  <a:pt x="5806482" y="0"/>
                </a:lnTo>
                <a:lnTo>
                  <a:pt x="5806482" y="802522"/>
                </a:lnTo>
                <a:lnTo>
                  <a:pt x="0" y="802522"/>
                </a:lnTo>
                <a:lnTo>
                  <a:pt x="0" y="0"/>
                </a:lnTo>
                <a:close/>
              </a:path>
            </a:pathLst>
          </a:custGeom>
          <a:blipFill>
            <a:blip r:embed="rId5"/>
            <a:stretch>
              <a:fillRect l="0" t="0" r="0" b="0"/>
            </a:stretch>
          </a:blipFill>
        </p:spPr>
      </p:sp>
      <p:grpSp>
        <p:nvGrpSpPr>
          <p:cNvPr name="Group 21" id="21"/>
          <p:cNvGrpSpPr/>
          <p:nvPr/>
        </p:nvGrpSpPr>
        <p:grpSpPr>
          <a:xfrm rot="0">
            <a:off x="13603832" y="5876403"/>
            <a:ext cx="3962059" cy="396205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4942" y="0"/>
                  </a:moveTo>
                  <a:lnTo>
                    <a:pt x="767858" y="0"/>
                  </a:lnTo>
                  <a:cubicBezTo>
                    <a:pt x="779777" y="0"/>
                    <a:pt x="791208" y="4735"/>
                    <a:pt x="799637" y="13163"/>
                  </a:cubicBezTo>
                  <a:cubicBezTo>
                    <a:pt x="808065" y="21592"/>
                    <a:pt x="812800" y="33023"/>
                    <a:pt x="812800" y="44942"/>
                  </a:cubicBezTo>
                  <a:lnTo>
                    <a:pt x="812800" y="767858"/>
                  </a:lnTo>
                  <a:cubicBezTo>
                    <a:pt x="812800" y="779777"/>
                    <a:pt x="808065" y="791208"/>
                    <a:pt x="799637" y="799637"/>
                  </a:cubicBezTo>
                  <a:cubicBezTo>
                    <a:pt x="791208" y="808065"/>
                    <a:pt x="779777" y="812800"/>
                    <a:pt x="767858" y="812800"/>
                  </a:cubicBezTo>
                  <a:lnTo>
                    <a:pt x="44942" y="812800"/>
                  </a:lnTo>
                  <a:cubicBezTo>
                    <a:pt x="33023" y="812800"/>
                    <a:pt x="21592" y="808065"/>
                    <a:pt x="13163" y="799637"/>
                  </a:cubicBezTo>
                  <a:cubicBezTo>
                    <a:pt x="4735" y="791208"/>
                    <a:pt x="0" y="779777"/>
                    <a:pt x="0" y="767858"/>
                  </a:cubicBezTo>
                  <a:lnTo>
                    <a:pt x="0" y="44942"/>
                  </a:lnTo>
                  <a:cubicBezTo>
                    <a:pt x="0" y="33023"/>
                    <a:pt x="4735" y="21592"/>
                    <a:pt x="13163" y="13163"/>
                  </a:cubicBezTo>
                  <a:cubicBezTo>
                    <a:pt x="21592" y="4735"/>
                    <a:pt x="33023" y="0"/>
                    <a:pt x="44942" y="0"/>
                  </a:cubicBezTo>
                  <a:close/>
                </a:path>
              </a:pathLst>
            </a:custGeom>
            <a:blipFill>
              <a:blip r:embed="rId6"/>
              <a:stretch>
                <a:fillRect l="0" t="-63960" r="0" b="-63960"/>
              </a:stretch>
            </a:blipFill>
            <a:ln w="95250" cap="rnd">
              <a:solidFill>
                <a:srgbClr val="242D4B"/>
              </a:solidFill>
              <a:prstDash val="solid"/>
              <a:round/>
            </a:ln>
          </p:spPr>
        </p:sp>
      </p:grpSp>
      <p:sp>
        <p:nvSpPr>
          <p:cNvPr name="TextBox 23" id="23"/>
          <p:cNvSpPr txBox="true"/>
          <p:nvPr/>
        </p:nvSpPr>
        <p:spPr>
          <a:xfrm rot="0">
            <a:off x="455878" y="2103612"/>
            <a:ext cx="10323501" cy="3633669"/>
          </a:xfrm>
          <a:prstGeom prst="rect">
            <a:avLst/>
          </a:prstGeom>
        </p:spPr>
        <p:txBody>
          <a:bodyPr anchor="t" rtlCol="false" tIns="0" lIns="0" bIns="0" rIns="0">
            <a:spAutoFit/>
          </a:bodyPr>
          <a:lstStyle/>
          <a:p>
            <a:pPr algn="l">
              <a:lnSpc>
                <a:spcPts val="2645"/>
              </a:lnSpc>
            </a:pPr>
          </a:p>
          <a:p>
            <a:pPr algn="l">
              <a:lnSpc>
                <a:spcPts val="2645"/>
              </a:lnSpc>
            </a:pPr>
            <a:r>
              <a:rPr lang="en-US" sz="1889">
                <a:solidFill>
                  <a:srgbClr val="242D4B"/>
                </a:solidFill>
                <a:latin typeface="Glacial Indifference"/>
                <a:ea typeface="Glacial Indifference"/>
                <a:cs typeface="Glacial Indifference"/>
                <a:sym typeface="Glacial Indifference"/>
              </a:rPr>
              <a:t>Consortium Independent Study 3 College Tall (KMB-3PT), Ministry of Education And Moslem University of Indonesia Culture, (August - </a:t>
            </a:r>
          </a:p>
          <a:p>
            <a:pPr algn="l">
              <a:lnSpc>
                <a:spcPts val="2645"/>
              </a:lnSpc>
            </a:pPr>
            <a:r>
              <a:rPr lang="en-US" sz="1889">
                <a:solidFill>
                  <a:srgbClr val="242D4B"/>
                </a:solidFill>
                <a:latin typeface="Glacial Indifference"/>
                <a:ea typeface="Glacial Indifference"/>
                <a:cs typeface="Glacial Indifference"/>
                <a:sym typeface="Glacial Indifference"/>
              </a:rPr>
              <a:t>December 2021) </a:t>
            </a:r>
          </a:p>
          <a:p>
            <a:pPr algn="l">
              <a:lnSpc>
                <a:spcPts val="2645"/>
              </a:lnSpc>
            </a:pPr>
          </a:p>
          <a:p>
            <a:pPr algn="l">
              <a:lnSpc>
                <a:spcPts val="2645"/>
              </a:lnSpc>
            </a:pPr>
            <a:r>
              <a:rPr lang="en-US" sz="1889">
                <a:solidFill>
                  <a:srgbClr val="242D4B"/>
                </a:solidFill>
                <a:latin typeface="Glacial Indifference"/>
                <a:ea typeface="Glacial Indifference"/>
                <a:cs typeface="Glacial Indifference"/>
                <a:sym typeface="Glacial Indifference"/>
              </a:rPr>
              <a:t>Kompetensi yang dikembangkan</a:t>
            </a:r>
          </a:p>
          <a:p>
            <a:pPr algn="l" marL="408044" indent="-204022" lvl="1">
              <a:lnSpc>
                <a:spcPts val="2645"/>
              </a:lnSpc>
              <a:buFont typeface="Arial"/>
              <a:buChar char="•"/>
            </a:pPr>
            <a:r>
              <a:rPr lang="en-US" sz="1889">
                <a:solidFill>
                  <a:srgbClr val="242D4B"/>
                </a:solidFill>
                <a:latin typeface="Glacial Indifference"/>
                <a:ea typeface="Glacial Indifference"/>
                <a:cs typeface="Glacial Indifference"/>
                <a:sym typeface="Glacial Indifference"/>
              </a:rPr>
              <a:t>Communication &amp; Collaboration</a:t>
            </a:r>
          </a:p>
          <a:p>
            <a:pPr algn="l" marL="408044" indent="-204022" lvl="1">
              <a:lnSpc>
                <a:spcPts val="2645"/>
              </a:lnSpc>
              <a:buFont typeface="Arial"/>
              <a:buChar char="•"/>
            </a:pPr>
            <a:r>
              <a:rPr lang="en-US" sz="1889">
                <a:solidFill>
                  <a:srgbClr val="242D4B"/>
                </a:solidFill>
                <a:latin typeface="Glacial Indifference"/>
                <a:ea typeface="Glacial Indifference"/>
                <a:cs typeface="Glacial Indifference"/>
                <a:sym typeface="Glacial Indifference"/>
              </a:rPr>
              <a:t>Adaptability</a:t>
            </a:r>
          </a:p>
          <a:p>
            <a:pPr algn="l" marL="408044" indent="-204022" lvl="1">
              <a:lnSpc>
                <a:spcPts val="2645"/>
              </a:lnSpc>
              <a:buFont typeface="Arial"/>
              <a:buChar char="•"/>
            </a:pPr>
            <a:r>
              <a:rPr lang="en-US" sz="1889">
                <a:solidFill>
                  <a:srgbClr val="242D4B"/>
                </a:solidFill>
                <a:latin typeface="Glacial Indifference"/>
                <a:ea typeface="Glacial Indifference"/>
                <a:cs typeface="Glacial Indifference"/>
                <a:sym typeface="Glacial Indifference"/>
              </a:rPr>
              <a:t>Critical Thinking</a:t>
            </a:r>
          </a:p>
          <a:p>
            <a:pPr algn="l" marL="408044" indent="-204022" lvl="1">
              <a:lnSpc>
                <a:spcPts val="2645"/>
              </a:lnSpc>
              <a:buFont typeface="Arial"/>
              <a:buChar char="•"/>
            </a:pPr>
            <a:r>
              <a:rPr lang="en-US" sz="1889">
                <a:solidFill>
                  <a:srgbClr val="242D4B"/>
                </a:solidFill>
                <a:latin typeface="Glacial Indifference"/>
                <a:ea typeface="Glacial Indifference"/>
                <a:cs typeface="Glacial Indifference"/>
                <a:sym typeface="Glacial Indifference"/>
              </a:rPr>
              <a:t>Problem Solving</a:t>
            </a:r>
          </a:p>
          <a:p>
            <a:pPr algn="l">
              <a:lnSpc>
                <a:spcPts val="2645"/>
              </a:lnSpc>
            </a:pPr>
          </a:p>
        </p:txBody>
      </p:sp>
      <p:grpSp>
        <p:nvGrpSpPr>
          <p:cNvPr name="Group 24" id="24"/>
          <p:cNvGrpSpPr/>
          <p:nvPr/>
        </p:nvGrpSpPr>
        <p:grpSpPr>
          <a:xfrm rot="0">
            <a:off x="455878" y="1348715"/>
            <a:ext cx="14504402" cy="885798"/>
            <a:chOff x="0" y="0"/>
            <a:chExt cx="19339203" cy="1181064"/>
          </a:xfrm>
        </p:grpSpPr>
        <p:sp>
          <p:nvSpPr>
            <p:cNvPr name="TextBox 25" id="25"/>
            <p:cNvSpPr txBox="true"/>
            <p:nvPr/>
          </p:nvSpPr>
          <p:spPr>
            <a:xfrm rot="0">
              <a:off x="0" y="167055"/>
              <a:ext cx="11132459" cy="1014009"/>
            </a:xfrm>
            <a:prstGeom prst="rect">
              <a:avLst/>
            </a:prstGeom>
          </p:spPr>
          <p:txBody>
            <a:bodyPr anchor="t" rtlCol="false" tIns="0" lIns="0" bIns="0" rIns="0">
              <a:spAutoFit/>
            </a:bodyPr>
            <a:lstStyle/>
            <a:p>
              <a:pPr algn="just">
                <a:lnSpc>
                  <a:spcPts val="3101"/>
                </a:lnSpc>
              </a:pPr>
            </a:p>
            <a:p>
              <a:pPr algn="just">
                <a:lnSpc>
                  <a:spcPts val="3101"/>
                </a:lnSpc>
                <a:spcBef>
                  <a:spcPct val="0"/>
                </a:spcBef>
              </a:pPr>
              <a:r>
                <a:rPr lang="en-US" sz="2215" i="true">
                  <a:solidFill>
                    <a:srgbClr val="242D4B"/>
                  </a:solidFill>
                  <a:latin typeface="Glacial Indifference Italics"/>
                  <a:ea typeface="Glacial Indifference Italics"/>
                  <a:cs typeface="Glacial Indifference Italics"/>
                  <a:sym typeface="Glacial Indifference Italics"/>
                </a:rPr>
                <a:t>Universitas Trunojoyo Madura, Teknik Industri (2021)</a:t>
              </a:r>
            </a:p>
          </p:txBody>
        </p:sp>
        <p:sp>
          <p:nvSpPr>
            <p:cNvPr name="TextBox 26" id="26"/>
            <p:cNvSpPr txBox="true"/>
            <p:nvPr/>
          </p:nvSpPr>
          <p:spPr>
            <a:xfrm rot="0">
              <a:off x="0" y="76200"/>
              <a:ext cx="19339203" cy="885501"/>
            </a:xfrm>
            <a:prstGeom prst="rect">
              <a:avLst/>
            </a:prstGeom>
          </p:spPr>
          <p:txBody>
            <a:bodyPr anchor="t" rtlCol="false" tIns="0" lIns="0" bIns="0" rIns="0">
              <a:spAutoFit/>
            </a:bodyPr>
            <a:lstStyle/>
            <a:p>
              <a:pPr algn="just">
                <a:lnSpc>
                  <a:spcPts val="4754"/>
                </a:lnSpc>
              </a:pPr>
              <a:r>
                <a:rPr lang="en-US" b="true" sz="4707">
                  <a:solidFill>
                    <a:srgbClr val="39251F"/>
                  </a:solidFill>
                  <a:latin typeface="Bebas Neue Bold"/>
                  <a:ea typeface="Bebas Neue Bold"/>
                  <a:cs typeface="Bebas Neue Bold"/>
                  <a:sym typeface="Bebas Neue Bold"/>
                </a:rPr>
                <a:t>PROGRAM MBKM - PERTUKARAN MAHASISWA </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988361" y="6788880"/>
            <a:ext cx="5437585" cy="5437585"/>
            <a:chOff x="0" y="0"/>
            <a:chExt cx="558800" cy="558800"/>
          </a:xfrm>
        </p:grpSpPr>
        <p:sp>
          <p:nvSpPr>
            <p:cNvPr name="Freeform 3" id="3"/>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FFC2C2"/>
            </a:solidFill>
          </p:spPr>
        </p:sp>
        <p:sp>
          <p:nvSpPr>
            <p:cNvPr name="TextBox 4" id="4"/>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3064121" y="877888"/>
            <a:ext cx="8042768" cy="8042768"/>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19050" cap="sq">
              <a:solidFill>
                <a:srgbClr val="FFC2C2"/>
              </a:solidFill>
              <a:prstDash val="solid"/>
              <a:miter/>
            </a:ln>
          </p:spPr>
        </p:sp>
        <p:sp>
          <p:nvSpPr>
            <p:cNvPr name="TextBox 7" id="7"/>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148264" y="7470439"/>
            <a:ext cx="3681135" cy="3681135"/>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FFC2C2"/>
            </a:solidFill>
          </p:spPr>
        </p:sp>
        <p:sp>
          <p:nvSpPr>
            <p:cNvPr name="TextBox 10" id="10"/>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327332" y="7700752"/>
            <a:ext cx="3681135" cy="3681135"/>
            <a:chOff x="0" y="0"/>
            <a:chExt cx="558800" cy="558800"/>
          </a:xfrm>
        </p:grpSpPr>
        <p:sp>
          <p:nvSpPr>
            <p:cNvPr name="Freeform 12" id="12"/>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19050" cap="sq">
              <a:solidFill>
                <a:srgbClr val="FFC2C2"/>
              </a:solidFill>
              <a:prstDash val="solid"/>
              <a:miter/>
            </a:ln>
          </p:spPr>
        </p:sp>
        <p:sp>
          <p:nvSpPr>
            <p:cNvPr name="TextBox 13" id="13"/>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6607712" y="6592214"/>
            <a:ext cx="5437585" cy="5437585"/>
            <a:chOff x="0" y="0"/>
            <a:chExt cx="558800" cy="558800"/>
          </a:xfrm>
        </p:grpSpPr>
        <p:sp>
          <p:nvSpPr>
            <p:cNvPr name="Freeform 15" id="15"/>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19050" cap="sq">
              <a:solidFill>
                <a:srgbClr val="FFC2C2"/>
              </a:solidFill>
              <a:prstDash val="solid"/>
              <a:miter/>
            </a:ln>
          </p:spPr>
        </p:sp>
        <p:sp>
          <p:nvSpPr>
            <p:cNvPr name="TextBox 16" id="16"/>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3422062" y="6221918"/>
            <a:ext cx="6004547" cy="6004547"/>
            <a:chOff x="0" y="0"/>
            <a:chExt cx="558800" cy="558800"/>
          </a:xfrm>
        </p:grpSpPr>
        <p:sp>
          <p:nvSpPr>
            <p:cNvPr name="Freeform 18" id="18"/>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FFD699"/>
            </a:solidFill>
          </p:spPr>
        </p:sp>
        <p:sp>
          <p:nvSpPr>
            <p:cNvPr name="TextBox 19" id="19"/>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3422062" y="6423890"/>
            <a:ext cx="6004547" cy="6004547"/>
            <a:chOff x="0" y="0"/>
            <a:chExt cx="558800" cy="558800"/>
          </a:xfrm>
        </p:grpSpPr>
        <p:sp>
          <p:nvSpPr>
            <p:cNvPr name="Freeform 21" id="21"/>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FFD699"/>
            </a:solidFill>
          </p:spPr>
        </p:sp>
        <p:sp>
          <p:nvSpPr>
            <p:cNvPr name="TextBox 22" id="22"/>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3196235" y="6065645"/>
            <a:ext cx="6004547" cy="6004547"/>
            <a:chOff x="0" y="0"/>
            <a:chExt cx="558800" cy="558800"/>
          </a:xfrm>
        </p:grpSpPr>
        <p:sp>
          <p:nvSpPr>
            <p:cNvPr name="Freeform 24" id="24"/>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19050" cap="sq">
              <a:solidFill>
                <a:srgbClr val="FFC2C2"/>
              </a:solidFill>
              <a:prstDash val="solid"/>
              <a:miter/>
            </a:ln>
          </p:spPr>
        </p:sp>
        <p:sp>
          <p:nvSpPr>
            <p:cNvPr name="TextBox 25" id="25"/>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339401" y="169862"/>
            <a:ext cx="16160834" cy="734367"/>
            <a:chOff x="0" y="0"/>
            <a:chExt cx="21547778" cy="979155"/>
          </a:xfrm>
        </p:grpSpPr>
        <p:grpSp>
          <p:nvGrpSpPr>
            <p:cNvPr name="Group 27" id="27"/>
            <p:cNvGrpSpPr/>
            <p:nvPr/>
          </p:nvGrpSpPr>
          <p:grpSpPr>
            <a:xfrm rot="0">
              <a:off x="0" y="0"/>
              <a:ext cx="21547778" cy="979155"/>
              <a:chOff x="0" y="0"/>
              <a:chExt cx="8943439" cy="406400"/>
            </a:xfrm>
          </p:grpSpPr>
          <p:sp>
            <p:nvSpPr>
              <p:cNvPr name="Freeform 28" id="28"/>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29" id="29"/>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31" id="31"/>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32" id="32"/>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Experiences</a:t>
              </a:r>
            </a:p>
          </p:txBody>
        </p:sp>
        <p:sp>
          <p:nvSpPr>
            <p:cNvPr name="TextBox 33" id="33"/>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34" id="34"/>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Skills</a:t>
              </a:r>
            </a:p>
          </p:txBody>
        </p:sp>
        <p:sp>
          <p:nvSpPr>
            <p:cNvPr name="TextBox 35" id="35"/>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Project</a:t>
              </a:r>
            </a:p>
          </p:txBody>
        </p:sp>
        <p:sp>
          <p:nvSpPr>
            <p:cNvPr name="TextBox 36" id="36"/>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Organization</a:t>
              </a:r>
            </a:p>
          </p:txBody>
        </p:sp>
        <p:sp>
          <p:nvSpPr>
            <p:cNvPr name="TextBox 37" id="37"/>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sp>
        <p:nvSpPr>
          <p:cNvPr name="Freeform 38" id="38"/>
          <p:cNvSpPr/>
          <p:nvPr/>
        </p:nvSpPr>
        <p:spPr>
          <a:xfrm flipH="false" flipV="false" rot="0">
            <a:off x="4101210" y="1522207"/>
            <a:ext cx="1599681" cy="395288"/>
          </a:xfrm>
          <a:custGeom>
            <a:avLst/>
            <a:gdLst/>
            <a:ahLst/>
            <a:cxnLst/>
            <a:rect r="r" b="b" t="t" l="l"/>
            <a:pathLst>
              <a:path h="395288" w="1599681">
                <a:moveTo>
                  <a:pt x="0" y="0"/>
                </a:moveTo>
                <a:lnTo>
                  <a:pt x="1599681" y="0"/>
                </a:lnTo>
                <a:lnTo>
                  <a:pt x="1599681" y="395288"/>
                </a:lnTo>
                <a:lnTo>
                  <a:pt x="0" y="395288"/>
                </a:lnTo>
                <a:lnTo>
                  <a:pt x="0" y="0"/>
                </a:lnTo>
                <a:close/>
              </a:path>
            </a:pathLst>
          </a:custGeom>
          <a:blipFill>
            <a:blip r:embed="rId2"/>
            <a:stretch>
              <a:fillRect l="0" t="0" r="0" b="0"/>
            </a:stretch>
          </a:blipFill>
        </p:spPr>
      </p:sp>
      <p:sp>
        <p:nvSpPr>
          <p:cNvPr name="TextBox 39" id="39"/>
          <p:cNvSpPr txBox="true"/>
          <p:nvPr/>
        </p:nvSpPr>
        <p:spPr>
          <a:xfrm rot="0">
            <a:off x="639686" y="2981210"/>
            <a:ext cx="6348675" cy="2493010"/>
          </a:xfrm>
          <a:prstGeom prst="rect">
            <a:avLst/>
          </a:prstGeom>
        </p:spPr>
        <p:txBody>
          <a:bodyPr anchor="t" rtlCol="false" tIns="0" lIns="0" bIns="0" rIns="0">
            <a:spAutoFit/>
          </a:bodyPr>
          <a:lstStyle/>
          <a:p>
            <a:pPr algn="l" marL="345443" indent="-172721" lvl="1">
              <a:lnSpc>
                <a:spcPts val="2240"/>
              </a:lnSpc>
              <a:buFont typeface="Arial"/>
              <a:buChar char="•"/>
            </a:pPr>
            <a:r>
              <a:rPr lang="en-US" sz="1600">
                <a:solidFill>
                  <a:srgbClr val="39251F"/>
                </a:solidFill>
                <a:latin typeface="Poppins"/>
                <a:ea typeface="Poppins"/>
                <a:cs typeface="Poppins"/>
                <a:sym typeface="Poppins"/>
              </a:rPr>
              <a:t>Berkontribusi </a:t>
            </a:r>
            <a:r>
              <a:rPr lang="en-US" sz="1600">
                <a:solidFill>
                  <a:srgbClr val="39251F"/>
                </a:solidFill>
                <a:latin typeface="Poppins"/>
                <a:ea typeface="Poppins"/>
                <a:cs typeface="Poppins"/>
                <a:sym typeface="Poppins"/>
              </a:rPr>
              <a:t>dalam program organisasi yang berfokus pada pengembangan kompetensi dan prestasi mahasiswa.</a:t>
            </a:r>
          </a:p>
          <a:p>
            <a:pPr algn="l" marL="345443" indent="-172721" lvl="1">
              <a:lnSpc>
                <a:spcPts val="2240"/>
              </a:lnSpc>
              <a:buFont typeface="Arial"/>
              <a:buChar char="•"/>
            </a:pPr>
            <a:r>
              <a:rPr lang="en-US" sz="1600">
                <a:solidFill>
                  <a:srgbClr val="39251F"/>
                </a:solidFill>
                <a:latin typeface="Poppins"/>
                <a:ea typeface="Poppins"/>
                <a:cs typeface="Poppins"/>
                <a:sym typeface="Poppins"/>
              </a:rPr>
              <a:t>Membantu perencanaan dan pelaksanaan kegiatan pengembangan mahasiswa.</a:t>
            </a:r>
          </a:p>
          <a:p>
            <a:pPr algn="l" marL="345443" indent="-172721" lvl="1">
              <a:lnSpc>
                <a:spcPts val="2240"/>
              </a:lnSpc>
              <a:buFont typeface="Arial"/>
              <a:buChar char="•"/>
            </a:pPr>
            <a:r>
              <a:rPr lang="en-US" sz="1600">
                <a:solidFill>
                  <a:srgbClr val="39251F"/>
                </a:solidFill>
                <a:latin typeface="Poppins"/>
                <a:ea typeface="Poppins"/>
                <a:cs typeface="Poppins"/>
                <a:sym typeface="Poppins"/>
              </a:rPr>
              <a:t>Berkolaborasi dengan anggota tim dalam mengoordinasikan program kerja untuk mendukung pencapaian tujuan organisasi.</a:t>
            </a:r>
          </a:p>
          <a:p>
            <a:pPr algn="l">
              <a:lnSpc>
                <a:spcPts val="2240"/>
              </a:lnSpc>
            </a:pPr>
          </a:p>
        </p:txBody>
      </p:sp>
      <p:sp>
        <p:nvSpPr>
          <p:cNvPr name="TextBox 40" id="40"/>
          <p:cNvSpPr txBox="true"/>
          <p:nvPr/>
        </p:nvSpPr>
        <p:spPr>
          <a:xfrm rot="0">
            <a:off x="639686" y="1469510"/>
            <a:ext cx="4702578" cy="943596"/>
          </a:xfrm>
          <a:prstGeom prst="rect">
            <a:avLst/>
          </a:prstGeom>
        </p:spPr>
        <p:txBody>
          <a:bodyPr anchor="t" rtlCol="false" tIns="0" lIns="0" bIns="0" rIns="0">
            <a:spAutoFit/>
          </a:bodyPr>
          <a:lstStyle/>
          <a:p>
            <a:pPr algn="l">
              <a:lnSpc>
                <a:spcPts val="7219"/>
              </a:lnSpc>
            </a:pPr>
            <a:r>
              <a:rPr lang="en-US" sz="6504" b="true">
                <a:solidFill>
                  <a:srgbClr val="39251F"/>
                </a:solidFill>
                <a:latin typeface="Bebas Neue Bold"/>
                <a:ea typeface="Bebas Neue Bold"/>
                <a:cs typeface="Bebas Neue Bold"/>
                <a:sym typeface="Bebas Neue Bold"/>
              </a:rPr>
              <a:t>PERISAI UMI</a:t>
            </a:r>
          </a:p>
        </p:txBody>
      </p:sp>
      <p:sp>
        <p:nvSpPr>
          <p:cNvPr name="TextBox 41" id="41"/>
          <p:cNvSpPr txBox="true"/>
          <p:nvPr/>
        </p:nvSpPr>
        <p:spPr>
          <a:xfrm rot="0">
            <a:off x="639686" y="2123215"/>
            <a:ext cx="11164769" cy="807972"/>
          </a:xfrm>
          <a:prstGeom prst="rect">
            <a:avLst/>
          </a:prstGeom>
        </p:spPr>
        <p:txBody>
          <a:bodyPr anchor="t" rtlCol="false" tIns="0" lIns="0" bIns="0" rIns="0">
            <a:spAutoFit/>
          </a:bodyPr>
          <a:lstStyle/>
          <a:p>
            <a:pPr algn="l">
              <a:lnSpc>
                <a:spcPts val="3241"/>
              </a:lnSpc>
            </a:pPr>
            <a:r>
              <a:rPr lang="en-US" sz="2315">
                <a:solidFill>
                  <a:srgbClr val="39251F"/>
                </a:solidFill>
                <a:latin typeface="Montserrat"/>
                <a:ea typeface="Montserrat"/>
                <a:cs typeface="Montserrat"/>
                <a:sym typeface="Montserrat"/>
              </a:rPr>
              <a:t>Anggota</a:t>
            </a:r>
            <a:r>
              <a:rPr lang="en-US" sz="2315">
                <a:solidFill>
                  <a:srgbClr val="39251F"/>
                </a:solidFill>
                <a:latin typeface="Montserrat"/>
                <a:ea typeface="Montserrat"/>
                <a:cs typeface="Montserrat"/>
                <a:sym typeface="Montserrat"/>
              </a:rPr>
              <a:t> Departemen Kompetensi dan Prestasi</a:t>
            </a:r>
          </a:p>
          <a:p>
            <a:pPr algn="l">
              <a:lnSpc>
                <a:spcPts val="3241"/>
              </a:lnSpc>
            </a:pPr>
            <a:r>
              <a:rPr lang="en-US" sz="2315">
                <a:solidFill>
                  <a:srgbClr val="39251F"/>
                </a:solidFill>
                <a:latin typeface="Montserrat"/>
                <a:ea typeface="Montserrat"/>
                <a:cs typeface="Montserrat"/>
                <a:sym typeface="Montserrat"/>
              </a:rPr>
              <a:t>Universitas Muslim Indonesia | 2020–2023</a:t>
            </a:r>
          </a:p>
        </p:txBody>
      </p:sp>
      <p:sp>
        <p:nvSpPr>
          <p:cNvPr name="Freeform 42" id="42"/>
          <p:cNvSpPr/>
          <p:nvPr/>
        </p:nvSpPr>
        <p:spPr>
          <a:xfrm flipH="false" flipV="false" rot="0">
            <a:off x="-2077246" y="256981"/>
            <a:ext cx="10862097" cy="10434478"/>
          </a:xfrm>
          <a:custGeom>
            <a:avLst/>
            <a:gdLst/>
            <a:ahLst/>
            <a:cxnLst/>
            <a:rect r="r" b="b" t="t" l="l"/>
            <a:pathLst>
              <a:path h="10434478" w="10862097">
                <a:moveTo>
                  <a:pt x="0" y="0"/>
                </a:moveTo>
                <a:lnTo>
                  <a:pt x="10862097" y="0"/>
                </a:lnTo>
                <a:lnTo>
                  <a:pt x="10862097" y="10434478"/>
                </a:lnTo>
                <a:lnTo>
                  <a:pt x="0" y="10434478"/>
                </a:lnTo>
                <a:lnTo>
                  <a:pt x="0" y="0"/>
                </a:lnTo>
                <a:close/>
              </a:path>
            </a:pathLst>
          </a:custGeom>
          <a:blipFill>
            <a:blip r:embed="rId3"/>
            <a:stretch>
              <a:fillRect l="0" t="-19398" r="0" b="-19398"/>
            </a:stretch>
          </a:blipFill>
        </p:spPr>
      </p:sp>
      <p:grpSp>
        <p:nvGrpSpPr>
          <p:cNvPr name="Group 43" id="43"/>
          <p:cNvGrpSpPr/>
          <p:nvPr/>
        </p:nvGrpSpPr>
        <p:grpSpPr>
          <a:xfrm rot="0">
            <a:off x="7843193" y="1028700"/>
            <a:ext cx="3078627" cy="9258300"/>
            <a:chOff x="0" y="0"/>
            <a:chExt cx="4104836" cy="12344400"/>
          </a:xfrm>
        </p:grpSpPr>
        <p:pic>
          <p:nvPicPr>
            <p:cNvPr name="Picture 44" id="44"/>
            <p:cNvPicPr>
              <a:picLocks noChangeAspect="true"/>
            </p:cNvPicPr>
            <p:nvPr/>
          </p:nvPicPr>
          <p:blipFill>
            <a:blip r:embed="rId4"/>
            <a:srcRect l="16048" t="0" r="16048" b="0"/>
            <a:stretch>
              <a:fillRect/>
            </a:stretch>
          </p:blipFill>
          <p:spPr>
            <a:xfrm flipH="false" flipV="false">
              <a:off x="0" y="0"/>
              <a:ext cx="4104836" cy="4030133"/>
            </a:xfrm>
            <a:prstGeom prst="rect">
              <a:avLst/>
            </a:prstGeom>
          </p:spPr>
        </p:pic>
        <p:pic>
          <p:nvPicPr>
            <p:cNvPr name="Picture 45" id="45"/>
            <p:cNvPicPr>
              <a:picLocks noChangeAspect="true"/>
            </p:cNvPicPr>
            <p:nvPr/>
          </p:nvPicPr>
          <p:blipFill>
            <a:blip r:embed="rId5"/>
            <a:srcRect l="0" t="2382" r="0" b="2382"/>
            <a:stretch>
              <a:fillRect/>
            </a:stretch>
          </p:blipFill>
          <p:spPr>
            <a:xfrm flipH="false" flipV="false">
              <a:off x="0" y="4157133"/>
              <a:ext cx="4104836" cy="4030133"/>
            </a:xfrm>
            <a:prstGeom prst="rect">
              <a:avLst/>
            </a:prstGeom>
          </p:spPr>
        </p:pic>
        <p:pic>
          <p:nvPicPr>
            <p:cNvPr name="Picture 46" id="46"/>
            <p:cNvPicPr>
              <a:picLocks noChangeAspect="true"/>
            </p:cNvPicPr>
            <p:nvPr/>
          </p:nvPicPr>
          <p:blipFill>
            <a:blip r:embed="rId6"/>
            <a:srcRect l="0" t="13182" r="0" b="13182"/>
            <a:stretch>
              <a:fillRect/>
            </a:stretch>
          </p:blipFill>
          <p:spPr>
            <a:xfrm flipH="false" flipV="false">
              <a:off x="0" y="8314267"/>
              <a:ext cx="4104836" cy="4030133"/>
            </a:xfrm>
            <a:prstGeom prst="rect">
              <a:avLst/>
            </a:prstGeom>
          </p:spPr>
        </p:pic>
      </p:grpSp>
      <p:grpSp>
        <p:nvGrpSpPr>
          <p:cNvPr name="Group 47" id="47"/>
          <p:cNvGrpSpPr/>
          <p:nvPr/>
        </p:nvGrpSpPr>
        <p:grpSpPr>
          <a:xfrm rot="0">
            <a:off x="12425946" y="4682588"/>
            <a:ext cx="5327378" cy="5397106"/>
            <a:chOff x="0" y="0"/>
            <a:chExt cx="7103170" cy="7196142"/>
          </a:xfrm>
        </p:grpSpPr>
        <p:grpSp>
          <p:nvGrpSpPr>
            <p:cNvPr name="Group 48" id="48"/>
            <p:cNvGrpSpPr/>
            <p:nvPr/>
          </p:nvGrpSpPr>
          <p:grpSpPr>
            <a:xfrm rot="0">
              <a:off x="0" y="0"/>
              <a:ext cx="3377591" cy="337759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7"/>
                <a:stretch>
                  <a:fillRect l="-25029" t="0" r="-25029" b="0"/>
                </a:stretch>
              </a:blipFill>
              <a:ln w="38100" cap="rnd">
                <a:solidFill>
                  <a:srgbClr val="242D4B"/>
                </a:solidFill>
                <a:prstDash val="solid"/>
                <a:round/>
              </a:ln>
            </p:spPr>
          </p:sp>
        </p:grpSp>
        <p:grpSp>
          <p:nvGrpSpPr>
            <p:cNvPr name="Group 50" id="50"/>
            <p:cNvGrpSpPr/>
            <p:nvPr/>
          </p:nvGrpSpPr>
          <p:grpSpPr>
            <a:xfrm rot="0">
              <a:off x="0" y="3818551"/>
              <a:ext cx="3377591" cy="3377591"/>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8"/>
                <a:stretch>
                  <a:fillRect l="0" t="-6820" r="0" b="-6820"/>
                </a:stretch>
              </a:blipFill>
              <a:ln w="38100" cap="rnd">
                <a:solidFill>
                  <a:srgbClr val="242D4B"/>
                </a:solidFill>
                <a:prstDash val="solid"/>
                <a:round/>
              </a:ln>
            </p:spPr>
          </p:sp>
        </p:grpSp>
        <p:grpSp>
          <p:nvGrpSpPr>
            <p:cNvPr name="Group 52" id="52"/>
            <p:cNvGrpSpPr/>
            <p:nvPr/>
          </p:nvGrpSpPr>
          <p:grpSpPr>
            <a:xfrm rot="0">
              <a:off x="3725579" y="0"/>
              <a:ext cx="3377591" cy="3377591"/>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9"/>
                <a:stretch>
                  <a:fillRect l="0" t="0" r="0" b="0"/>
                </a:stretch>
              </a:blipFill>
              <a:ln w="38100" cap="rnd">
                <a:solidFill>
                  <a:srgbClr val="242D4B"/>
                </a:solidFill>
                <a:prstDash val="solid"/>
                <a:round/>
              </a:ln>
            </p:spPr>
          </p:sp>
        </p:grpSp>
        <p:grpSp>
          <p:nvGrpSpPr>
            <p:cNvPr name="Group 54" id="54"/>
            <p:cNvGrpSpPr/>
            <p:nvPr/>
          </p:nvGrpSpPr>
          <p:grpSpPr>
            <a:xfrm rot="0">
              <a:off x="3725579" y="3818551"/>
              <a:ext cx="3377591" cy="337759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10"/>
                <a:stretch>
                  <a:fillRect l="-16666" t="0" r="-16666" b="0"/>
                </a:stretch>
              </a:blipFill>
              <a:ln w="38100" cap="rnd">
                <a:solidFill>
                  <a:srgbClr val="242D4B"/>
                </a:solidFill>
                <a:prstDash val="solid"/>
                <a:round/>
              </a:ln>
            </p:spPr>
          </p:sp>
        </p:grpSp>
      </p:grpSp>
      <p:sp>
        <p:nvSpPr>
          <p:cNvPr name="TextBox 56" id="56"/>
          <p:cNvSpPr txBox="true"/>
          <p:nvPr/>
        </p:nvSpPr>
        <p:spPr>
          <a:xfrm rot="0">
            <a:off x="11570113" y="1569832"/>
            <a:ext cx="6331394" cy="943596"/>
          </a:xfrm>
          <a:prstGeom prst="rect">
            <a:avLst/>
          </a:prstGeom>
        </p:spPr>
        <p:txBody>
          <a:bodyPr anchor="t" rtlCol="false" tIns="0" lIns="0" bIns="0" rIns="0">
            <a:spAutoFit/>
          </a:bodyPr>
          <a:lstStyle/>
          <a:p>
            <a:pPr algn="l">
              <a:lnSpc>
                <a:spcPts val="7219"/>
              </a:lnSpc>
            </a:pPr>
            <a:r>
              <a:rPr lang="en-US" sz="6504" b="true">
                <a:solidFill>
                  <a:srgbClr val="39251F"/>
                </a:solidFill>
                <a:latin typeface="Bebas Neue Bold"/>
                <a:ea typeface="Bebas Neue Bold"/>
                <a:cs typeface="Bebas Neue Bold"/>
                <a:sym typeface="Bebas Neue Bold"/>
              </a:rPr>
              <a:t>STUDY CLUB  (PKM)</a:t>
            </a:r>
          </a:p>
        </p:txBody>
      </p:sp>
      <p:sp>
        <p:nvSpPr>
          <p:cNvPr name="TextBox 57" id="57"/>
          <p:cNvSpPr txBox="true"/>
          <p:nvPr/>
        </p:nvSpPr>
        <p:spPr>
          <a:xfrm rot="0">
            <a:off x="11570113" y="2465804"/>
            <a:ext cx="6348675" cy="2216785"/>
          </a:xfrm>
          <a:prstGeom prst="rect">
            <a:avLst/>
          </a:prstGeom>
        </p:spPr>
        <p:txBody>
          <a:bodyPr anchor="t" rtlCol="false" tIns="0" lIns="0" bIns="0" rIns="0">
            <a:spAutoFit/>
          </a:bodyPr>
          <a:lstStyle/>
          <a:p>
            <a:pPr algn="l" marL="345443" indent="-172721" lvl="1">
              <a:lnSpc>
                <a:spcPts val="2240"/>
              </a:lnSpc>
              <a:buFont typeface="Arial"/>
              <a:buChar char="•"/>
            </a:pPr>
            <a:r>
              <a:rPr lang="en-US" sz="1600">
                <a:solidFill>
                  <a:srgbClr val="39251F"/>
                </a:solidFill>
                <a:latin typeface="Poppins"/>
                <a:ea typeface="Poppins"/>
                <a:cs typeface="Poppins"/>
                <a:sym typeface="Poppins"/>
              </a:rPr>
              <a:t>Berpartisipasi </a:t>
            </a:r>
            <a:r>
              <a:rPr lang="en-US" sz="1600">
                <a:solidFill>
                  <a:srgbClr val="39251F"/>
                </a:solidFill>
                <a:latin typeface="Poppins"/>
                <a:ea typeface="Poppins"/>
                <a:cs typeface="Poppins"/>
                <a:sym typeface="Poppins"/>
              </a:rPr>
              <a:t>dalam kegiatan kelompok studi yang berfokus pada pengembangan ide dan kreativitas mahasiswa melalui Program Kreativitas Mahasiswa (PKM).</a:t>
            </a:r>
          </a:p>
          <a:p>
            <a:pPr algn="l" marL="345443" indent="-172721" lvl="1">
              <a:lnSpc>
                <a:spcPts val="2240"/>
              </a:lnSpc>
              <a:buFont typeface="Arial"/>
              <a:buChar char="•"/>
            </a:pPr>
            <a:r>
              <a:rPr lang="en-US" sz="1600">
                <a:solidFill>
                  <a:srgbClr val="39251F"/>
                </a:solidFill>
                <a:latin typeface="Poppins"/>
                <a:ea typeface="Poppins"/>
                <a:cs typeface="Poppins"/>
                <a:sym typeface="Poppins"/>
              </a:rPr>
              <a:t>Berkolaborasi dengan tim dalam mengembangkan ide inovatif dan menyusun konsep proposal PKM.</a:t>
            </a:r>
          </a:p>
          <a:p>
            <a:pPr algn="l" marL="345443" indent="-172721" lvl="1">
              <a:lnSpc>
                <a:spcPts val="2240"/>
              </a:lnSpc>
              <a:buFont typeface="Arial"/>
              <a:buChar char="•"/>
            </a:pPr>
            <a:r>
              <a:rPr lang="en-US" sz="1600">
                <a:solidFill>
                  <a:srgbClr val="39251F"/>
                </a:solidFill>
                <a:latin typeface="Poppins"/>
                <a:ea typeface="Poppins"/>
                <a:cs typeface="Poppins"/>
                <a:sym typeface="Poppins"/>
              </a:rPr>
              <a:t>Mendukung proses diskusi, pengembangan gagasan, dan persiapan kegiatan PKM.</a:t>
            </a:r>
          </a:p>
          <a:p>
            <a:pPr algn="l">
              <a:lnSpc>
                <a:spcPts val="224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5400000">
            <a:off x="201573" y="6596531"/>
            <a:ext cx="6096540" cy="6096540"/>
            <a:chOff x="0" y="0"/>
            <a:chExt cx="558800" cy="558800"/>
          </a:xfrm>
        </p:grpSpPr>
        <p:sp>
          <p:nvSpPr>
            <p:cNvPr name="Freeform 3" id="3"/>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FFC2C2"/>
            </a:solidFill>
          </p:spPr>
        </p:sp>
        <p:sp>
          <p:nvSpPr>
            <p:cNvPr name="TextBox 4" id="4"/>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253232" y="6210030"/>
            <a:ext cx="6096540" cy="6096540"/>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19050" cap="sq">
              <a:solidFill>
                <a:srgbClr val="FFC2C2"/>
              </a:solidFill>
              <a:prstDash val="solid"/>
              <a:miter/>
            </a:ln>
          </p:spPr>
        </p:sp>
        <p:sp>
          <p:nvSpPr>
            <p:cNvPr name="TextBox 7" id="7"/>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15423487" y="-279993"/>
            <a:ext cx="3156638" cy="3156638"/>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FFC2C2"/>
            </a:solidFill>
          </p:spPr>
        </p:sp>
        <p:sp>
          <p:nvSpPr>
            <p:cNvPr name="TextBox 10" id="10"/>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5721078" y="-1802553"/>
            <a:ext cx="4679197" cy="4679197"/>
            <a:chOff x="0" y="0"/>
            <a:chExt cx="558800" cy="558800"/>
          </a:xfrm>
        </p:grpSpPr>
        <p:sp>
          <p:nvSpPr>
            <p:cNvPr name="Freeform 12" id="12"/>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19050" cap="sq">
              <a:solidFill>
                <a:srgbClr val="FFC2C2"/>
              </a:solidFill>
              <a:prstDash val="solid"/>
              <a:miter/>
            </a:ln>
          </p:spPr>
        </p:sp>
        <p:sp>
          <p:nvSpPr>
            <p:cNvPr name="TextBox 13" id="13"/>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716649" y="4056614"/>
            <a:ext cx="2533193" cy="253319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2"/>
              <a:stretch>
                <a:fillRect l="-16666" t="0" r="-16666" b="0"/>
              </a:stretch>
            </a:blipFill>
            <a:ln w="38100" cap="rnd">
              <a:solidFill>
                <a:srgbClr val="242D4B"/>
              </a:solidFill>
              <a:prstDash val="solid"/>
              <a:round/>
            </a:ln>
          </p:spPr>
        </p:sp>
      </p:grpSp>
      <p:grpSp>
        <p:nvGrpSpPr>
          <p:cNvPr name="Group 16" id="16"/>
          <p:cNvGrpSpPr/>
          <p:nvPr/>
        </p:nvGrpSpPr>
        <p:grpSpPr>
          <a:xfrm rot="0">
            <a:off x="716649" y="6637432"/>
            <a:ext cx="2533193" cy="253319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3"/>
              <a:stretch>
                <a:fillRect l="-16666" t="0" r="-16666" b="0"/>
              </a:stretch>
            </a:blipFill>
            <a:ln w="38100" cap="rnd">
              <a:solidFill>
                <a:srgbClr val="242D4B"/>
              </a:solidFill>
              <a:prstDash val="solid"/>
              <a:round/>
            </a:ln>
          </p:spPr>
        </p:sp>
      </p:grpSp>
      <p:grpSp>
        <p:nvGrpSpPr>
          <p:cNvPr name="Group 18" id="18"/>
          <p:cNvGrpSpPr/>
          <p:nvPr/>
        </p:nvGrpSpPr>
        <p:grpSpPr>
          <a:xfrm rot="0">
            <a:off x="3310115" y="4035303"/>
            <a:ext cx="2533193" cy="253319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4"/>
              <a:stretch>
                <a:fillRect l="0" t="-16666" r="0" b="-16666"/>
              </a:stretch>
            </a:blipFill>
            <a:ln w="38100" cap="rnd">
              <a:solidFill>
                <a:srgbClr val="242D4B"/>
              </a:solidFill>
              <a:prstDash val="solid"/>
              <a:round/>
            </a:ln>
          </p:spPr>
        </p:sp>
      </p:grpSp>
      <p:grpSp>
        <p:nvGrpSpPr>
          <p:cNvPr name="Group 20" id="20"/>
          <p:cNvGrpSpPr/>
          <p:nvPr/>
        </p:nvGrpSpPr>
        <p:grpSpPr>
          <a:xfrm rot="0">
            <a:off x="339401" y="169862"/>
            <a:ext cx="16160834" cy="734367"/>
            <a:chOff x="0" y="0"/>
            <a:chExt cx="21547778" cy="979155"/>
          </a:xfrm>
        </p:grpSpPr>
        <p:grpSp>
          <p:nvGrpSpPr>
            <p:cNvPr name="Group 21" id="21"/>
            <p:cNvGrpSpPr/>
            <p:nvPr/>
          </p:nvGrpSpPr>
          <p:grpSpPr>
            <a:xfrm rot="0">
              <a:off x="0" y="0"/>
              <a:ext cx="21547778" cy="979155"/>
              <a:chOff x="0" y="0"/>
              <a:chExt cx="8943439" cy="406400"/>
            </a:xfrm>
          </p:grpSpPr>
          <p:sp>
            <p:nvSpPr>
              <p:cNvPr name="Freeform 22" id="22"/>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23" id="23"/>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25" id="25"/>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26" id="26"/>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Experiences</a:t>
              </a:r>
            </a:p>
          </p:txBody>
        </p:sp>
        <p:sp>
          <p:nvSpPr>
            <p:cNvPr name="TextBox 27" id="27"/>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28" id="28"/>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Skills</a:t>
              </a:r>
            </a:p>
          </p:txBody>
        </p:sp>
        <p:sp>
          <p:nvSpPr>
            <p:cNvPr name="TextBox 29" id="29"/>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Project</a:t>
              </a:r>
            </a:p>
          </p:txBody>
        </p:sp>
        <p:sp>
          <p:nvSpPr>
            <p:cNvPr name="TextBox 30" id="30"/>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31" id="31"/>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sp>
        <p:nvSpPr>
          <p:cNvPr name="TextBox 32" id="32"/>
          <p:cNvSpPr txBox="true"/>
          <p:nvPr/>
        </p:nvSpPr>
        <p:spPr>
          <a:xfrm rot="0">
            <a:off x="433467" y="2116054"/>
            <a:ext cx="5753294" cy="1940560"/>
          </a:xfrm>
          <a:prstGeom prst="rect">
            <a:avLst/>
          </a:prstGeom>
        </p:spPr>
        <p:txBody>
          <a:bodyPr anchor="t" rtlCol="false" tIns="0" lIns="0" bIns="0" rIns="0">
            <a:spAutoFit/>
          </a:bodyPr>
          <a:lstStyle/>
          <a:p>
            <a:pPr algn="l" marL="345441" indent="-172721" lvl="1">
              <a:lnSpc>
                <a:spcPts val="2240"/>
              </a:lnSpc>
              <a:spcBef>
                <a:spcPct val="0"/>
              </a:spcBef>
              <a:buFont typeface="Arial"/>
              <a:buChar char="•"/>
            </a:pPr>
            <a:r>
              <a:rPr lang="en-US" sz="1600">
                <a:solidFill>
                  <a:srgbClr val="39251F"/>
                </a:solidFill>
                <a:latin typeface="Poppins"/>
                <a:ea typeface="Poppins"/>
                <a:cs typeface="Poppins"/>
                <a:sym typeface="Poppins"/>
              </a:rPr>
              <a:t>M</a:t>
            </a:r>
            <a:r>
              <a:rPr lang="en-US" sz="1600">
                <a:solidFill>
                  <a:srgbClr val="39251F"/>
                </a:solidFill>
                <a:latin typeface="Poppins"/>
                <a:ea typeface="Poppins"/>
                <a:cs typeface="Poppins"/>
                <a:sym typeface="Poppins"/>
              </a:rPr>
              <a:t>engelola administrasi dan dokumentasi kegiatan usaha.</a:t>
            </a:r>
          </a:p>
          <a:p>
            <a:pPr algn="l" marL="345441" indent="-172721" lvl="1">
              <a:lnSpc>
                <a:spcPts val="2240"/>
              </a:lnSpc>
              <a:spcBef>
                <a:spcPct val="0"/>
              </a:spcBef>
              <a:buFont typeface="Arial"/>
              <a:buChar char="•"/>
            </a:pPr>
            <a:r>
              <a:rPr lang="en-US" sz="1600">
                <a:solidFill>
                  <a:srgbClr val="39251F"/>
                </a:solidFill>
                <a:latin typeface="Poppins"/>
                <a:ea typeface="Poppins"/>
                <a:cs typeface="Poppins"/>
                <a:sym typeface="Poppins"/>
              </a:rPr>
              <a:t>Membantu pelaksanaan strategi pemasaran dan promosi produk.</a:t>
            </a:r>
          </a:p>
          <a:p>
            <a:pPr algn="l" marL="345441" indent="-172721" lvl="1">
              <a:lnSpc>
                <a:spcPts val="2240"/>
              </a:lnSpc>
              <a:spcBef>
                <a:spcPct val="0"/>
              </a:spcBef>
              <a:buFont typeface="Arial"/>
              <a:buChar char="•"/>
            </a:pPr>
            <a:r>
              <a:rPr lang="en-US" sz="1600">
                <a:solidFill>
                  <a:srgbClr val="39251F"/>
                </a:solidFill>
                <a:latin typeface="Poppins"/>
                <a:ea typeface="Poppins"/>
                <a:cs typeface="Poppins"/>
                <a:sym typeface="Poppins"/>
              </a:rPr>
              <a:t>Mendukung operasional bisnis serta koordinasi antaranggota tim.</a:t>
            </a:r>
          </a:p>
          <a:p>
            <a:pPr algn="l">
              <a:lnSpc>
                <a:spcPts val="2240"/>
              </a:lnSpc>
              <a:spcBef>
                <a:spcPct val="0"/>
              </a:spcBef>
            </a:pPr>
          </a:p>
        </p:txBody>
      </p:sp>
      <p:grpSp>
        <p:nvGrpSpPr>
          <p:cNvPr name="Group 33" id="33"/>
          <p:cNvGrpSpPr/>
          <p:nvPr/>
        </p:nvGrpSpPr>
        <p:grpSpPr>
          <a:xfrm rot="0">
            <a:off x="160077" y="3507937"/>
            <a:ext cx="1635563" cy="1635563"/>
            <a:chOff x="0" y="0"/>
            <a:chExt cx="2180750" cy="2180750"/>
          </a:xfrm>
        </p:grpSpPr>
        <p:grpSp>
          <p:nvGrpSpPr>
            <p:cNvPr name="Group 34" id="34"/>
            <p:cNvGrpSpPr/>
            <p:nvPr/>
          </p:nvGrpSpPr>
          <p:grpSpPr>
            <a:xfrm rot="0">
              <a:off x="75348" y="520420"/>
              <a:ext cx="1978891" cy="1142023"/>
              <a:chOff x="0" y="0"/>
              <a:chExt cx="849849" cy="490450"/>
            </a:xfrm>
          </p:grpSpPr>
          <p:sp>
            <p:nvSpPr>
              <p:cNvPr name="Freeform 35" id="35"/>
              <p:cNvSpPr/>
              <p:nvPr/>
            </p:nvSpPr>
            <p:spPr>
              <a:xfrm flipH="false" flipV="false" rot="0">
                <a:off x="0" y="0"/>
                <a:ext cx="849849" cy="490450"/>
              </a:xfrm>
              <a:custGeom>
                <a:avLst/>
                <a:gdLst/>
                <a:ahLst/>
                <a:cxnLst/>
                <a:rect r="r" b="b" t="t" l="l"/>
                <a:pathLst>
                  <a:path h="490450" w="849849">
                    <a:moveTo>
                      <a:pt x="122363" y="0"/>
                    </a:moveTo>
                    <a:lnTo>
                      <a:pt x="727485" y="0"/>
                    </a:lnTo>
                    <a:cubicBezTo>
                      <a:pt x="759938" y="0"/>
                      <a:pt x="791062" y="12892"/>
                      <a:pt x="814009" y="35839"/>
                    </a:cubicBezTo>
                    <a:cubicBezTo>
                      <a:pt x="836957" y="58787"/>
                      <a:pt x="849849" y="89910"/>
                      <a:pt x="849849" y="122363"/>
                    </a:cubicBezTo>
                    <a:lnTo>
                      <a:pt x="849849" y="368087"/>
                    </a:lnTo>
                    <a:cubicBezTo>
                      <a:pt x="849849" y="400539"/>
                      <a:pt x="836957" y="431663"/>
                      <a:pt x="814009" y="454610"/>
                    </a:cubicBezTo>
                    <a:cubicBezTo>
                      <a:pt x="791062" y="477558"/>
                      <a:pt x="759938" y="490450"/>
                      <a:pt x="727485" y="490450"/>
                    </a:cubicBezTo>
                    <a:lnTo>
                      <a:pt x="122363" y="490450"/>
                    </a:lnTo>
                    <a:cubicBezTo>
                      <a:pt x="54784" y="490450"/>
                      <a:pt x="0" y="435666"/>
                      <a:pt x="0" y="368087"/>
                    </a:cubicBezTo>
                    <a:lnTo>
                      <a:pt x="0" y="122363"/>
                    </a:lnTo>
                    <a:cubicBezTo>
                      <a:pt x="0" y="89910"/>
                      <a:pt x="12892" y="58787"/>
                      <a:pt x="35839" y="35839"/>
                    </a:cubicBezTo>
                    <a:cubicBezTo>
                      <a:pt x="58787" y="12892"/>
                      <a:pt x="89910" y="0"/>
                      <a:pt x="122363" y="0"/>
                    </a:cubicBezTo>
                    <a:close/>
                  </a:path>
                </a:pathLst>
              </a:custGeom>
              <a:solidFill>
                <a:srgbClr val="C8D1D9"/>
              </a:solidFill>
            </p:spPr>
          </p:sp>
          <p:sp>
            <p:nvSpPr>
              <p:cNvPr name="TextBox 36" id="36"/>
              <p:cNvSpPr txBox="true"/>
              <p:nvPr/>
            </p:nvSpPr>
            <p:spPr>
              <a:xfrm>
                <a:off x="0" y="-28575"/>
                <a:ext cx="849849" cy="519025"/>
              </a:xfrm>
              <a:prstGeom prst="rect">
                <a:avLst/>
              </a:prstGeom>
            </p:spPr>
            <p:txBody>
              <a:bodyPr anchor="ctr" rtlCol="false" tIns="50800" lIns="50800" bIns="50800" rIns="50800"/>
              <a:lstStyle/>
              <a:p>
                <a:pPr algn="ctr">
                  <a:lnSpc>
                    <a:spcPts val="2799"/>
                  </a:lnSpc>
                </a:pPr>
              </a:p>
            </p:txBody>
          </p:sp>
        </p:grpSp>
        <p:sp>
          <p:nvSpPr>
            <p:cNvPr name="Freeform 37" id="37"/>
            <p:cNvSpPr/>
            <p:nvPr/>
          </p:nvSpPr>
          <p:spPr>
            <a:xfrm flipH="false" flipV="false" rot="0">
              <a:off x="0" y="0"/>
              <a:ext cx="2180750" cy="2180750"/>
            </a:xfrm>
            <a:custGeom>
              <a:avLst/>
              <a:gdLst/>
              <a:ahLst/>
              <a:cxnLst/>
              <a:rect r="r" b="b" t="t" l="l"/>
              <a:pathLst>
                <a:path h="2180750" w="2180750">
                  <a:moveTo>
                    <a:pt x="0" y="0"/>
                  </a:moveTo>
                  <a:lnTo>
                    <a:pt x="2180750" y="0"/>
                  </a:lnTo>
                  <a:lnTo>
                    <a:pt x="2180750" y="2180750"/>
                  </a:lnTo>
                  <a:lnTo>
                    <a:pt x="0" y="2180750"/>
                  </a:lnTo>
                  <a:lnTo>
                    <a:pt x="0" y="0"/>
                  </a:lnTo>
                  <a:close/>
                </a:path>
              </a:pathLst>
            </a:custGeom>
            <a:blipFill>
              <a:blip r:embed="rId5"/>
              <a:stretch>
                <a:fillRect l="0" t="0" r="0" b="0"/>
              </a:stretch>
            </a:blipFill>
          </p:spPr>
        </p:sp>
      </p:grpSp>
      <p:sp>
        <p:nvSpPr>
          <p:cNvPr name="Freeform 38" id="38"/>
          <p:cNvSpPr/>
          <p:nvPr/>
        </p:nvSpPr>
        <p:spPr>
          <a:xfrm flipH="false" flipV="false" rot="0">
            <a:off x="13658049" y="3163390"/>
            <a:ext cx="3394251" cy="893224"/>
          </a:xfrm>
          <a:custGeom>
            <a:avLst/>
            <a:gdLst/>
            <a:ahLst/>
            <a:cxnLst/>
            <a:rect r="r" b="b" t="t" l="l"/>
            <a:pathLst>
              <a:path h="893224" w="3394251">
                <a:moveTo>
                  <a:pt x="0" y="0"/>
                </a:moveTo>
                <a:lnTo>
                  <a:pt x="3394251" y="0"/>
                </a:lnTo>
                <a:lnTo>
                  <a:pt x="3394251" y="893224"/>
                </a:lnTo>
                <a:lnTo>
                  <a:pt x="0" y="893224"/>
                </a:lnTo>
                <a:lnTo>
                  <a:pt x="0" y="0"/>
                </a:lnTo>
                <a:close/>
              </a:path>
            </a:pathLst>
          </a:custGeom>
          <a:blipFill>
            <a:blip r:embed="rId6"/>
            <a:stretch>
              <a:fillRect l="0" t="0" r="0" b="0"/>
            </a:stretch>
          </a:blipFill>
        </p:spPr>
      </p:sp>
      <p:grpSp>
        <p:nvGrpSpPr>
          <p:cNvPr name="Group 39" id="39"/>
          <p:cNvGrpSpPr/>
          <p:nvPr/>
        </p:nvGrpSpPr>
        <p:grpSpPr>
          <a:xfrm rot="0">
            <a:off x="3310115" y="6637432"/>
            <a:ext cx="2533193" cy="2533193"/>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4"/>
              <a:stretch>
                <a:fillRect l="0" t="-16666" r="0" b="-16666"/>
              </a:stretch>
            </a:blipFill>
            <a:ln w="38100" cap="rnd">
              <a:solidFill>
                <a:srgbClr val="242D4B"/>
              </a:solidFill>
              <a:prstDash val="solid"/>
              <a:round/>
            </a:ln>
          </p:spPr>
        </p:sp>
      </p:grpSp>
      <p:grpSp>
        <p:nvGrpSpPr>
          <p:cNvPr name="Group 41" id="41"/>
          <p:cNvGrpSpPr/>
          <p:nvPr/>
        </p:nvGrpSpPr>
        <p:grpSpPr>
          <a:xfrm rot="0">
            <a:off x="8113846" y="4035303"/>
            <a:ext cx="5220812" cy="5292820"/>
            <a:chOff x="0" y="0"/>
            <a:chExt cx="6961083" cy="7057093"/>
          </a:xfrm>
        </p:grpSpPr>
        <p:grpSp>
          <p:nvGrpSpPr>
            <p:cNvPr name="Group 42" id="42"/>
            <p:cNvGrpSpPr/>
            <p:nvPr/>
          </p:nvGrpSpPr>
          <p:grpSpPr>
            <a:xfrm rot="0">
              <a:off x="3583492" y="0"/>
              <a:ext cx="3377591" cy="3377591"/>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7"/>
                <a:stretch>
                  <a:fillRect l="-16747" t="0" r="-16747" b="0"/>
                </a:stretch>
              </a:blipFill>
              <a:ln w="38100" cap="rnd">
                <a:solidFill>
                  <a:srgbClr val="242D4B"/>
                </a:solidFill>
                <a:prstDash val="solid"/>
                <a:round/>
              </a:ln>
            </p:spPr>
          </p:sp>
        </p:grpSp>
        <p:grpSp>
          <p:nvGrpSpPr>
            <p:cNvPr name="Group 44" id="44"/>
            <p:cNvGrpSpPr/>
            <p:nvPr/>
          </p:nvGrpSpPr>
          <p:grpSpPr>
            <a:xfrm rot="0">
              <a:off x="0" y="0"/>
              <a:ext cx="3377591" cy="3377591"/>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8"/>
                <a:stretch>
                  <a:fillRect l="0" t="-16666" r="0" b="-16666"/>
                </a:stretch>
              </a:blipFill>
              <a:ln w="38100" cap="rnd">
                <a:solidFill>
                  <a:srgbClr val="242D4B"/>
                </a:solidFill>
                <a:prstDash val="solid"/>
                <a:round/>
              </a:ln>
            </p:spPr>
          </p:sp>
        </p:grpSp>
        <p:grpSp>
          <p:nvGrpSpPr>
            <p:cNvPr name="Group 46" id="46"/>
            <p:cNvGrpSpPr/>
            <p:nvPr/>
          </p:nvGrpSpPr>
          <p:grpSpPr>
            <a:xfrm rot="0">
              <a:off x="0" y="3679502"/>
              <a:ext cx="3377591" cy="3377591"/>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9"/>
                <a:stretch>
                  <a:fillRect l="-9040" t="0" r="-9040" b="0"/>
                </a:stretch>
              </a:blipFill>
              <a:ln w="38100" cap="rnd">
                <a:solidFill>
                  <a:srgbClr val="242D4B"/>
                </a:solidFill>
                <a:prstDash val="solid"/>
                <a:round/>
              </a:ln>
            </p:spPr>
          </p:sp>
        </p:grpSp>
        <p:grpSp>
          <p:nvGrpSpPr>
            <p:cNvPr name="Group 48" id="48"/>
            <p:cNvGrpSpPr/>
            <p:nvPr/>
          </p:nvGrpSpPr>
          <p:grpSpPr>
            <a:xfrm rot="0">
              <a:off x="3583492" y="3679502"/>
              <a:ext cx="3377591" cy="337759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10"/>
                <a:stretch>
                  <a:fillRect l="-25187" t="0" r="-25187" b="0"/>
                </a:stretch>
              </a:blipFill>
              <a:ln w="38100" cap="rnd">
                <a:solidFill>
                  <a:srgbClr val="242D4B"/>
                </a:solidFill>
                <a:prstDash val="solid"/>
                <a:round/>
              </a:ln>
            </p:spPr>
          </p:sp>
        </p:grpSp>
      </p:grpSp>
      <p:sp>
        <p:nvSpPr>
          <p:cNvPr name="Freeform 50" id="50"/>
          <p:cNvSpPr/>
          <p:nvPr/>
        </p:nvSpPr>
        <p:spPr>
          <a:xfrm flipH="false" flipV="false" rot="0">
            <a:off x="5374748" y="5323211"/>
            <a:ext cx="3640403" cy="8680962"/>
          </a:xfrm>
          <a:custGeom>
            <a:avLst/>
            <a:gdLst/>
            <a:ahLst/>
            <a:cxnLst/>
            <a:rect r="r" b="b" t="t" l="l"/>
            <a:pathLst>
              <a:path h="8680962" w="3640403">
                <a:moveTo>
                  <a:pt x="0" y="0"/>
                </a:moveTo>
                <a:lnTo>
                  <a:pt x="3640403" y="0"/>
                </a:lnTo>
                <a:lnTo>
                  <a:pt x="3640403" y="8680961"/>
                </a:lnTo>
                <a:lnTo>
                  <a:pt x="0" y="8680961"/>
                </a:lnTo>
                <a:lnTo>
                  <a:pt x="0" y="0"/>
                </a:lnTo>
                <a:close/>
              </a:path>
            </a:pathLst>
          </a:custGeom>
          <a:blipFill>
            <a:blip r:embed="rId11"/>
            <a:stretch>
              <a:fillRect l="0" t="0" r="0" b="0"/>
            </a:stretch>
          </a:blipFill>
        </p:spPr>
      </p:sp>
      <p:grpSp>
        <p:nvGrpSpPr>
          <p:cNvPr name="Group 51" id="51"/>
          <p:cNvGrpSpPr/>
          <p:nvPr/>
        </p:nvGrpSpPr>
        <p:grpSpPr>
          <a:xfrm rot="0">
            <a:off x="13658049" y="4035303"/>
            <a:ext cx="2533193" cy="2533193"/>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12"/>
              <a:stretch>
                <a:fillRect l="-36206" t="0" r="-36206" b="0"/>
              </a:stretch>
            </a:blipFill>
            <a:ln w="38100" cap="rnd">
              <a:solidFill>
                <a:srgbClr val="242D4B"/>
              </a:solidFill>
              <a:prstDash val="solid"/>
              <a:round/>
            </a:ln>
          </p:spPr>
        </p:sp>
      </p:grpSp>
      <p:grpSp>
        <p:nvGrpSpPr>
          <p:cNvPr name="Group 53" id="53"/>
          <p:cNvGrpSpPr/>
          <p:nvPr/>
        </p:nvGrpSpPr>
        <p:grpSpPr>
          <a:xfrm rot="0">
            <a:off x="13600899" y="6854246"/>
            <a:ext cx="2533193" cy="2533193"/>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70292" y="0"/>
                  </a:moveTo>
                  <a:lnTo>
                    <a:pt x="742508" y="0"/>
                  </a:lnTo>
                  <a:cubicBezTo>
                    <a:pt x="761150" y="0"/>
                    <a:pt x="779029" y="7406"/>
                    <a:pt x="792212" y="20588"/>
                  </a:cubicBezTo>
                  <a:cubicBezTo>
                    <a:pt x="805394" y="33771"/>
                    <a:pt x="812800" y="51650"/>
                    <a:pt x="812800" y="70292"/>
                  </a:cubicBezTo>
                  <a:lnTo>
                    <a:pt x="812800" y="742508"/>
                  </a:lnTo>
                  <a:cubicBezTo>
                    <a:pt x="812800" y="761150"/>
                    <a:pt x="805394" y="779029"/>
                    <a:pt x="792212" y="792212"/>
                  </a:cubicBezTo>
                  <a:cubicBezTo>
                    <a:pt x="779029" y="805394"/>
                    <a:pt x="761150" y="812800"/>
                    <a:pt x="742508" y="812800"/>
                  </a:cubicBezTo>
                  <a:lnTo>
                    <a:pt x="70292" y="812800"/>
                  </a:lnTo>
                  <a:cubicBezTo>
                    <a:pt x="51650" y="812800"/>
                    <a:pt x="33771" y="805394"/>
                    <a:pt x="20588" y="792212"/>
                  </a:cubicBezTo>
                  <a:cubicBezTo>
                    <a:pt x="7406" y="779029"/>
                    <a:pt x="0" y="761150"/>
                    <a:pt x="0" y="742508"/>
                  </a:cubicBezTo>
                  <a:lnTo>
                    <a:pt x="0" y="70292"/>
                  </a:lnTo>
                  <a:cubicBezTo>
                    <a:pt x="0" y="51650"/>
                    <a:pt x="7406" y="33771"/>
                    <a:pt x="20588" y="20588"/>
                  </a:cubicBezTo>
                  <a:cubicBezTo>
                    <a:pt x="33771" y="7406"/>
                    <a:pt x="51650" y="0"/>
                    <a:pt x="70292" y="0"/>
                  </a:cubicBezTo>
                  <a:close/>
                </a:path>
              </a:pathLst>
            </a:custGeom>
            <a:blipFill>
              <a:blip r:embed="rId13"/>
              <a:stretch>
                <a:fillRect l="-25757" t="0" r="-25757" b="0"/>
              </a:stretch>
            </a:blipFill>
            <a:ln w="38100" cap="rnd">
              <a:solidFill>
                <a:srgbClr val="242D4B"/>
              </a:solidFill>
              <a:prstDash val="solid"/>
              <a:round/>
            </a:ln>
          </p:spPr>
        </p:sp>
      </p:grpSp>
      <p:sp>
        <p:nvSpPr>
          <p:cNvPr name="TextBox 55" id="55"/>
          <p:cNvSpPr txBox="true"/>
          <p:nvPr/>
        </p:nvSpPr>
        <p:spPr>
          <a:xfrm rot="0">
            <a:off x="427020" y="1196863"/>
            <a:ext cx="5179342" cy="323304"/>
          </a:xfrm>
          <a:prstGeom prst="rect">
            <a:avLst/>
          </a:prstGeom>
        </p:spPr>
        <p:txBody>
          <a:bodyPr anchor="t" rtlCol="false" tIns="0" lIns="0" bIns="0" rIns="0">
            <a:spAutoFit/>
          </a:bodyPr>
          <a:lstStyle/>
          <a:p>
            <a:pPr algn="just">
              <a:lnSpc>
                <a:spcPts val="2369"/>
              </a:lnSpc>
            </a:pPr>
            <a:r>
              <a:rPr lang="en-US" b="true" sz="2345">
                <a:solidFill>
                  <a:srgbClr val="39251F"/>
                </a:solidFill>
                <a:latin typeface="Bebas Neue Bold"/>
                <a:ea typeface="Bebas Neue Bold"/>
                <a:cs typeface="Bebas Neue Bold"/>
                <a:sym typeface="Bebas Neue Bold"/>
                <a:hlinkClick r:id="rId14" tooltip="https://p2mw.kemdiktisaintek.go.id/p2mw"/>
              </a:rPr>
              <a:t>P</a:t>
            </a:r>
            <a:r>
              <a:rPr lang="en-US" b="true" sz="2345">
                <a:solidFill>
                  <a:srgbClr val="39251F"/>
                </a:solidFill>
                <a:latin typeface="Bebas Neue Bold"/>
                <a:ea typeface="Bebas Neue Bold"/>
                <a:cs typeface="Bebas Neue Bold"/>
                <a:sym typeface="Bebas Neue Bold"/>
                <a:hlinkClick r:id="rId15" tooltip="https://p2mw.kemdiktisaintek.go.id/p2mw"/>
              </a:rPr>
              <a:t>ROGRAM PEMBINAAN MAHASISWA WIRAUSAH</a:t>
            </a:r>
            <a:r>
              <a:rPr lang="en-US" sz="2345">
                <a:solidFill>
                  <a:srgbClr val="39251F"/>
                </a:solidFill>
                <a:latin typeface="Bebas Neue"/>
                <a:ea typeface="Bebas Neue"/>
                <a:cs typeface="Bebas Neue"/>
                <a:sym typeface="Bebas Neue"/>
              </a:rPr>
              <a:t>A (P2MW)</a:t>
            </a:r>
          </a:p>
        </p:txBody>
      </p:sp>
      <p:sp>
        <p:nvSpPr>
          <p:cNvPr name="TextBox 56" id="56"/>
          <p:cNvSpPr txBox="true"/>
          <p:nvPr/>
        </p:nvSpPr>
        <p:spPr>
          <a:xfrm rot="0">
            <a:off x="433467" y="1541900"/>
            <a:ext cx="3334714" cy="621779"/>
          </a:xfrm>
          <a:prstGeom prst="rect">
            <a:avLst/>
          </a:prstGeom>
        </p:spPr>
        <p:txBody>
          <a:bodyPr anchor="t" rtlCol="false" tIns="0" lIns="0" bIns="0" rIns="0">
            <a:spAutoFit/>
          </a:bodyPr>
          <a:lstStyle/>
          <a:p>
            <a:pPr algn="l">
              <a:lnSpc>
                <a:spcPts val="1643"/>
              </a:lnSpc>
            </a:pPr>
            <a:r>
              <a:rPr lang="en-US" sz="1174">
                <a:solidFill>
                  <a:srgbClr val="39251F"/>
                </a:solidFill>
                <a:latin typeface="Montserrat"/>
                <a:ea typeface="Montserrat"/>
                <a:cs typeface="Montserrat"/>
                <a:sym typeface="Montserrat"/>
              </a:rPr>
              <a:t>Administrative &amp; Marketing</a:t>
            </a:r>
            <a:r>
              <a:rPr lang="en-US" sz="1174">
                <a:solidFill>
                  <a:srgbClr val="39251F"/>
                </a:solidFill>
                <a:latin typeface="Montserrat"/>
                <a:ea typeface="Montserrat"/>
                <a:cs typeface="Montserrat"/>
                <a:sym typeface="Montserrat"/>
              </a:rPr>
              <a:t> Team Member</a:t>
            </a:r>
          </a:p>
          <a:p>
            <a:pPr algn="l">
              <a:lnSpc>
                <a:spcPts val="1643"/>
              </a:lnSpc>
            </a:pPr>
            <a:r>
              <a:rPr lang="en-US" sz="1174">
                <a:solidFill>
                  <a:srgbClr val="39251F"/>
                </a:solidFill>
                <a:latin typeface="Montserrat"/>
                <a:ea typeface="Montserrat"/>
                <a:cs typeface="Montserrat"/>
                <a:sym typeface="Montserrat"/>
              </a:rPr>
              <a:t>Universitas Muslim Indonesia | 2022</a:t>
            </a:r>
          </a:p>
          <a:p>
            <a:pPr algn="l">
              <a:lnSpc>
                <a:spcPts val="1643"/>
              </a:lnSpc>
            </a:pPr>
          </a:p>
        </p:txBody>
      </p:sp>
      <p:grpSp>
        <p:nvGrpSpPr>
          <p:cNvPr name="Group 57" id="57"/>
          <p:cNvGrpSpPr/>
          <p:nvPr/>
        </p:nvGrpSpPr>
        <p:grpSpPr>
          <a:xfrm rot="0">
            <a:off x="7847605" y="1298326"/>
            <a:ext cx="5753294" cy="2279690"/>
            <a:chOff x="0" y="0"/>
            <a:chExt cx="7671059" cy="3039586"/>
          </a:xfrm>
        </p:grpSpPr>
        <p:sp>
          <p:nvSpPr>
            <p:cNvPr name="TextBox 58" id="58"/>
            <p:cNvSpPr txBox="true"/>
            <p:nvPr/>
          </p:nvSpPr>
          <p:spPr>
            <a:xfrm rot="0">
              <a:off x="0" y="1204648"/>
              <a:ext cx="7671059" cy="1834938"/>
            </a:xfrm>
            <a:prstGeom prst="rect">
              <a:avLst/>
            </a:prstGeom>
          </p:spPr>
          <p:txBody>
            <a:bodyPr anchor="t" rtlCol="false" tIns="0" lIns="0" bIns="0" rIns="0">
              <a:spAutoFit/>
            </a:bodyPr>
            <a:lstStyle/>
            <a:p>
              <a:pPr algn="l" marL="345441" indent="-172721" lvl="1">
                <a:lnSpc>
                  <a:spcPts val="2240"/>
                </a:lnSpc>
                <a:spcBef>
                  <a:spcPct val="0"/>
                </a:spcBef>
                <a:buFont typeface="Arial"/>
                <a:buChar char="•"/>
              </a:pPr>
              <a:r>
                <a:rPr lang="en-US" sz="1600">
                  <a:solidFill>
                    <a:srgbClr val="39251F"/>
                  </a:solidFill>
                  <a:latin typeface="Poppins"/>
                  <a:ea typeface="Poppins"/>
                  <a:cs typeface="Poppins"/>
                  <a:sym typeface="Poppins"/>
                </a:rPr>
                <a:t>R</a:t>
              </a:r>
              <a:r>
                <a:rPr lang="en-US" sz="1600">
                  <a:solidFill>
                    <a:srgbClr val="39251F"/>
                  </a:solidFill>
                  <a:latin typeface="Poppins"/>
                  <a:ea typeface="Poppins"/>
                  <a:cs typeface="Poppins"/>
                  <a:sym typeface="Poppins"/>
                </a:rPr>
                <a:t>ole: Administration &amp; Marketing Team Member</a:t>
              </a:r>
            </a:p>
            <a:p>
              <a:pPr algn="l" marL="345441" indent="-172721" lvl="1">
                <a:lnSpc>
                  <a:spcPts val="2240"/>
                </a:lnSpc>
                <a:spcBef>
                  <a:spcPct val="0"/>
                </a:spcBef>
                <a:buFont typeface="Arial"/>
                <a:buChar char="•"/>
              </a:pPr>
              <a:r>
                <a:rPr lang="en-US" sz="1600">
                  <a:solidFill>
                    <a:srgbClr val="39251F"/>
                  </a:solidFill>
                  <a:latin typeface="Poppins"/>
                  <a:ea typeface="Poppins"/>
                  <a:cs typeface="Poppins"/>
                  <a:sym typeface="Poppins"/>
                </a:rPr>
                <a:t>Event: KMI Expo XIII 2022</a:t>
              </a:r>
            </a:p>
            <a:p>
              <a:pPr algn="l" marL="345441" indent="-172721" lvl="1">
                <a:lnSpc>
                  <a:spcPts val="2240"/>
                </a:lnSpc>
                <a:spcBef>
                  <a:spcPct val="0"/>
                </a:spcBef>
                <a:buFont typeface="Arial"/>
                <a:buChar char="•"/>
              </a:pPr>
              <a:r>
                <a:rPr lang="en-US" sz="1600">
                  <a:solidFill>
                    <a:srgbClr val="39251F"/>
                  </a:solidFill>
                  <a:latin typeface="Poppins"/>
                  <a:ea typeface="Poppins"/>
                  <a:cs typeface="Poppins"/>
                  <a:sym typeface="Poppins"/>
                </a:rPr>
                <a:t>Responsibilities: Administrative support, business documentation, product promotion, and exhibition coordination.</a:t>
              </a:r>
            </a:p>
          </p:txBody>
        </p:sp>
        <p:sp>
          <p:nvSpPr>
            <p:cNvPr name="TextBox 59" id="59"/>
            <p:cNvSpPr txBox="true"/>
            <p:nvPr/>
          </p:nvSpPr>
          <p:spPr>
            <a:xfrm rot="0">
              <a:off x="0" y="28575"/>
              <a:ext cx="7208208" cy="440598"/>
            </a:xfrm>
            <a:prstGeom prst="rect">
              <a:avLst/>
            </a:prstGeom>
          </p:spPr>
          <p:txBody>
            <a:bodyPr anchor="t" rtlCol="false" tIns="0" lIns="0" bIns="0" rIns="0">
              <a:spAutoFit/>
            </a:bodyPr>
            <a:lstStyle/>
            <a:p>
              <a:pPr algn="just">
                <a:lnSpc>
                  <a:spcPts val="2369"/>
                </a:lnSpc>
              </a:pPr>
              <a:r>
                <a:rPr lang="en-US" b="true" sz="2345">
                  <a:solidFill>
                    <a:srgbClr val="39251F"/>
                  </a:solidFill>
                  <a:latin typeface="Bebas Neue Bold"/>
                  <a:ea typeface="Bebas Neue Bold"/>
                  <a:cs typeface="Bebas Neue Bold"/>
                  <a:sym typeface="Bebas Neue Bold"/>
                  <a:hlinkClick r:id="rId16" tooltip="https://p2mw.kemdiktisaintek.go.id/p2mw"/>
                </a:rPr>
                <a:t>KEWIRAUSAHAAN MAHASISWA INDONESIA (KMI) EXPO XIII</a:t>
              </a:r>
            </a:p>
          </p:txBody>
        </p:sp>
        <p:sp>
          <p:nvSpPr>
            <p:cNvPr name="TextBox 60" id="60"/>
            <p:cNvSpPr txBox="true"/>
            <p:nvPr/>
          </p:nvSpPr>
          <p:spPr>
            <a:xfrm rot="0">
              <a:off x="0" y="440598"/>
              <a:ext cx="6885794" cy="1096414"/>
            </a:xfrm>
            <a:prstGeom prst="rect">
              <a:avLst/>
            </a:prstGeom>
          </p:spPr>
          <p:txBody>
            <a:bodyPr anchor="t" rtlCol="false" tIns="0" lIns="0" bIns="0" rIns="0">
              <a:spAutoFit/>
            </a:bodyPr>
            <a:lstStyle/>
            <a:p>
              <a:pPr algn="l">
                <a:lnSpc>
                  <a:spcPts val="1643"/>
                </a:lnSpc>
              </a:pPr>
              <a:r>
                <a:rPr lang="en-US" sz="1174">
                  <a:solidFill>
                    <a:srgbClr val="39251F"/>
                  </a:solidFill>
                  <a:latin typeface="Montserrat"/>
                  <a:ea typeface="Montserrat"/>
                  <a:cs typeface="Montserrat"/>
                  <a:sym typeface="Montserrat"/>
                </a:rPr>
                <a:t>Administrative &amp; Marketing</a:t>
              </a:r>
              <a:r>
                <a:rPr lang="en-US" sz="1174">
                  <a:solidFill>
                    <a:srgbClr val="39251F"/>
                  </a:solidFill>
                  <a:latin typeface="Montserrat"/>
                  <a:ea typeface="Montserrat"/>
                  <a:cs typeface="Montserrat"/>
                  <a:sym typeface="Montserrat"/>
                </a:rPr>
                <a:t> Team Member</a:t>
              </a:r>
            </a:p>
            <a:p>
              <a:pPr algn="l">
                <a:lnSpc>
                  <a:spcPts val="1643"/>
                </a:lnSpc>
              </a:pPr>
              <a:r>
                <a:rPr lang="en-US" sz="1174">
                  <a:solidFill>
                    <a:srgbClr val="39251F"/>
                  </a:solidFill>
                  <a:latin typeface="Montserrat"/>
                  <a:ea typeface="Montserrat"/>
                  <a:cs typeface="Montserrat"/>
                  <a:sym typeface="Montserrat"/>
                </a:rPr>
                <a:t>Universitas Pembangunan Nasional “Veteran” Jawa Timur | 2022</a:t>
              </a:r>
            </a:p>
            <a:p>
              <a:pPr algn="l">
                <a:lnSpc>
                  <a:spcPts val="1643"/>
                </a:lnSpc>
              </a:pPr>
            </a:p>
            <a:p>
              <a:pPr algn="l">
                <a:lnSpc>
                  <a:spcPts val="1643"/>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5400000">
            <a:off x="-232021" y="3973503"/>
            <a:ext cx="6096540" cy="6096540"/>
            <a:chOff x="0" y="0"/>
            <a:chExt cx="558800" cy="558800"/>
          </a:xfrm>
        </p:grpSpPr>
        <p:sp>
          <p:nvSpPr>
            <p:cNvPr name="Freeform 3" id="3"/>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FFC2C2"/>
            </a:solidFill>
          </p:spPr>
        </p:sp>
        <p:sp>
          <p:nvSpPr>
            <p:cNvPr name="TextBox 4" id="4"/>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0" y="3673775"/>
            <a:ext cx="6096540" cy="6096540"/>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19050" cap="sq">
              <a:solidFill>
                <a:srgbClr val="FFC2C2"/>
              </a:solidFill>
              <a:prstDash val="solid"/>
              <a:miter/>
            </a:ln>
          </p:spPr>
        </p:sp>
        <p:sp>
          <p:nvSpPr>
            <p:cNvPr name="TextBox 7" id="7"/>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14730631" y="1028700"/>
            <a:ext cx="3156638" cy="3156638"/>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FFC2C2"/>
            </a:solidFill>
          </p:spPr>
        </p:sp>
        <p:sp>
          <p:nvSpPr>
            <p:cNvPr name="TextBox 10" id="10"/>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5131362" y="-927881"/>
            <a:ext cx="4679197" cy="4679197"/>
            <a:chOff x="0" y="0"/>
            <a:chExt cx="558800" cy="558800"/>
          </a:xfrm>
        </p:grpSpPr>
        <p:sp>
          <p:nvSpPr>
            <p:cNvPr name="Freeform 12" id="12"/>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19050" cap="sq">
              <a:solidFill>
                <a:srgbClr val="FFC2C2"/>
              </a:solidFill>
              <a:prstDash val="solid"/>
              <a:miter/>
            </a:ln>
          </p:spPr>
        </p:sp>
        <p:sp>
          <p:nvSpPr>
            <p:cNvPr name="TextBox 13" id="13"/>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483073" y="1271734"/>
            <a:ext cx="9921428" cy="811540"/>
          </a:xfrm>
          <a:prstGeom prst="rect">
            <a:avLst/>
          </a:prstGeom>
        </p:spPr>
        <p:txBody>
          <a:bodyPr anchor="t" rtlCol="false" tIns="0" lIns="0" bIns="0" rIns="0">
            <a:spAutoFit/>
          </a:bodyPr>
          <a:lstStyle/>
          <a:p>
            <a:pPr algn="l">
              <a:lnSpc>
                <a:spcPts val="6060"/>
              </a:lnSpc>
            </a:pPr>
            <a:r>
              <a:rPr lang="en-US" sz="6000" b="true">
                <a:solidFill>
                  <a:srgbClr val="39251F"/>
                </a:solidFill>
                <a:latin typeface="Bebas Neue Bold"/>
                <a:ea typeface="Bebas Neue Bold"/>
                <a:cs typeface="Bebas Neue Bold"/>
                <a:sym typeface="Bebas Neue Bold"/>
              </a:rPr>
              <a:t>PROJECTS &amp; COMPETITIONS</a:t>
            </a:r>
          </a:p>
        </p:txBody>
      </p:sp>
      <p:grpSp>
        <p:nvGrpSpPr>
          <p:cNvPr name="Group 15" id="15"/>
          <p:cNvGrpSpPr/>
          <p:nvPr/>
        </p:nvGrpSpPr>
        <p:grpSpPr>
          <a:xfrm rot="0">
            <a:off x="339401" y="169862"/>
            <a:ext cx="16160834" cy="734367"/>
            <a:chOff x="0" y="0"/>
            <a:chExt cx="21547778" cy="979155"/>
          </a:xfrm>
        </p:grpSpPr>
        <p:grpSp>
          <p:nvGrpSpPr>
            <p:cNvPr name="Group 16" id="16"/>
            <p:cNvGrpSpPr/>
            <p:nvPr/>
          </p:nvGrpSpPr>
          <p:grpSpPr>
            <a:xfrm rot="0">
              <a:off x="0" y="0"/>
              <a:ext cx="21547778" cy="979155"/>
              <a:chOff x="0" y="0"/>
              <a:chExt cx="8943439" cy="406400"/>
            </a:xfrm>
          </p:grpSpPr>
          <p:sp>
            <p:nvSpPr>
              <p:cNvPr name="Freeform 17" id="17"/>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18" id="18"/>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20" id="20"/>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21" id="21"/>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Experiences</a:t>
              </a:r>
            </a:p>
          </p:txBody>
        </p:sp>
        <p:sp>
          <p:nvSpPr>
            <p:cNvPr name="TextBox 22" id="22"/>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23" id="23"/>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Skills</a:t>
              </a:r>
            </a:p>
          </p:txBody>
        </p:sp>
        <p:sp>
          <p:nvSpPr>
            <p:cNvPr name="TextBox 24" id="24"/>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Project</a:t>
              </a:r>
            </a:p>
          </p:txBody>
        </p:sp>
        <p:sp>
          <p:nvSpPr>
            <p:cNvPr name="TextBox 25" id="25"/>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26" id="26"/>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grpSp>
        <p:nvGrpSpPr>
          <p:cNvPr name="Group 27" id="27"/>
          <p:cNvGrpSpPr/>
          <p:nvPr/>
        </p:nvGrpSpPr>
        <p:grpSpPr>
          <a:xfrm rot="0">
            <a:off x="1130213" y="2241104"/>
            <a:ext cx="4966327" cy="7288863"/>
            <a:chOff x="0" y="0"/>
            <a:chExt cx="6621769" cy="9718485"/>
          </a:xfrm>
        </p:grpSpPr>
        <p:pic>
          <p:nvPicPr>
            <p:cNvPr name="Picture 28" id="28"/>
            <p:cNvPicPr>
              <a:picLocks noChangeAspect="true"/>
            </p:cNvPicPr>
            <p:nvPr/>
          </p:nvPicPr>
          <p:blipFill>
            <a:blip r:embed="rId2"/>
            <a:srcRect l="0" t="13788" r="0" b="13788"/>
            <a:stretch>
              <a:fillRect/>
            </a:stretch>
          </p:blipFill>
          <p:spPr>
            <a:xfrm flipH="false" flipV="false">
              <a:off x="0" y="0"/>
              <a:ext cx="6621769" cy="4795742"/>
            </a:xfrm>
            <a:prstGeom prst="rect">
              <a:avLst/>
            </a:prstGeom>
          </p:spPr>
        </p:pic>
        <p:pic>
          <p:nvPicPr>
            <p:cNvPr name="Picture 29" id="29"/>
            <p:cNvPicPr>
              <a:picLocks noChangeAspect="true"/>
            </p:cNvPicPr>
            <p:nvPr/>
          </p:nvPicPr>
          <p:blipFill>
            <a:blip r:embed="rId3"/>
            <a:srcRect l="24607" t="0" r="24607" b="0"/>
            <a:stretch>
              <a:fillRect/>
            </a:stretch>
          </p:blipFill>
          <p:spPr>
            <a:xfrm flipH="false" flipV="false">
              <a:off x="0" y="4922742"/>
              <a:ext cx="3247384" cy="4795742"/>
            </a:xfrm>
            <a:prstGeom prst="rect">
              <a:avLst/>
            </a:prstGeom>
          </p:spPr>
        </p:pic>
        <p:pic>
          <p:nvPicPr>
            <p:cNvPr name="Picture 30" id="30"/>
            <p:cNvPicPr>
              <a:picLocks noChangeAspect="true"/>
            </p:cNvPicPr>
            <p:nvPr/>
          </p:nvPicPr>
          <p:blipFill>
            <a:blip r:embed="rId4"/>
            <a:srcRect l="24607" t="0" r="24607" b="0"/>
            <a:stretch>
              <a:fillRect/>
            </a:stretch>
          </p:blipFill>
          <p:spPr>
            <a:xfrm flipH="false" flipV="false">
              <a:off x="3374384" y="4922742"/>
              <a:ext cx="3247384" cy="4795742"/>
            </a:xfrm>
            <a:prstGeom prst="rect">
              <a:avLst/>
            </a:prstGeom>
          </p:spPr>
        </p:pic>
      </p:grpSp>
      <p:grpSp>
        <p:nvGrpSpPr>
          <p:cNvPr name="Group 31" id="31"/>
          <p:cNvGrpSpPr>
            <a:grpSpLocks noChangeAspect="true"/>
          </p:cNvGrpSpPr>
          <p:nvPr/>
        </p:nvGrpSpPr>
        <p:grpSpPr>
          <a:xfrm rot="0">
            <a:off x="7094088" y="2607019"/>
            <a:ext cx="2651460" cy="5246370"/>
            <a:chOff x="0" y="0"/>
            <a:chExt cx="2620010" cy="5184140"/>
          </a:xfrm>
        </p:grpSpPr>
        <p:sp>
          <p:nvSpPr>
            <p:cNvPr name="Freeform 32" id="32"/>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3" id="33"/>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0" t="-2656" r="0" b="-2656"/>
              </a:stretch>
            </a:blipFill>
          </p:spPr>
        </p:sp>
        <p:sp>
          <p:nvSpPr>
            <p:cNvPr name="Freeform 34" id="34"/>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35" id="35"/>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36" id="36"/>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37" id="37"/>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38" id="38"/>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39" id="39"/>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40" id="40"/>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name="Group 41" id="41"/>
          <p:cNvGrpSpPr>
            <a:grpSpLocks noChangeAspect="true"/>
          </p:cNvGrpSpPr>
          <p:nvPr/>
        </p:nvGrpSpPr>
        <p:grpSpPr>
          <a:xfrm rot="0">
            <a:off x="10592689" y="2520315"/>
            <a:ext cx="2651460" cy="5246370"/>
            <a:chOff x="0" y="0"/>
            <a:chExt cx="2620010" cy="5184140"/>
          </a:xfrm>
        </p:grpSpPr>
        <p:sp>
          <p:nvSpPr>
            <p:cNvPr name="Freeform 42" id="42"/>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3" id="43"/>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6"/>
              <a:stretch>
                <a:fillRect l="0" t="-3041" r="0" b="-3041"/>
              </a:stretch>
            </a:blipFill>
          </p:spPr>
        </p:sp>
        <p:sp>
          <p:nvSpPr>
            <p:cNvPr name="Freeform 44" id="44"/>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45" id="45"/>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46" id="46"/>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47" id="47"/>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48" id="48"/>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49" id="49"/>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50" id="50"/>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name="Group 51" id="51"/>
          <p:cNvGrpSpPr>
            <a:grpSpLocks noChangeAspect="true"/>
          </p:cNvGrpSpPr>
          <p:nvPr/>
        </p:nvGrpSpPr>
        <p:grpSpPr>
          <a:xfrm rot="0">
            <a:off x="14091289" y="2433611"/>
            <a:ext cx="2651460" cy="5246370"/>
            <a:chOff x="0" y="0"/>
            <a:chExt cx="2620010" cy="5184140"/>
          </a:xfrm>
        </p:grpSpPr>
        <p:sp>
          <p:nvSpPr>
            <p:cNvPr name="Freeform 52" id="52"/>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3" id="53"/>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7"/>
              <a:stretch>
                <a:fillRect l="0" t="-3041" r="0" b="-3041"/>
              </a:stretch>
            </a:blipFill>
          </p:spPr>
        </p:sp>
        <p:sp>
          <p:nvSpPr>
            <p:cNvPr name="Freeform 54" id="54"/>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55" id="55"/>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56" id="56"/>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57" id="57"/>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58" id="58"/>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59" id="59"/>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60" id="60"/>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name="Freeform 61" id="61">
            <a:hlinkClick r:id="rId9" tooltip="https://www.instagram.com/tv/CW0xbAWFYRsWTdX-9iGQjYHWOeinQAGA-vHwZw0/?rpxt=Ym0wM3B5eTBtMnBs"/>
          </p:cNvPr>
          <p:cNvSpPr/>
          <p:nvPr/>
        </p:nvSpPr>
        <p:spPr>
          <a:xfrm flipH="false" flipV="false" rot="0">
            <a:off x="7977681" y="8103720"/>
            <a:ext cx="884275" cy="884275"/>
          </a:xfrm>
          <a:custGeom>
            <a:avLst/>
            <a:gdLst/>
            <a:ahLst/>
            <a:cxnLst/>
            <a:rect r="r" b="b" t="t" l="l"/>
            <a:pathLst>
              <a:path h="884275" w="884275">
                <a:moveTo>
                  <a:pt x="0" y="0"/>
                </a:moveTo>
                <a:lnTo>
                  <a:pt x="884275" y="0"/>
                </a:lnTo>
                <a:lnTo>
                  <a:pt x="884275" y="884275"/>
                </a:lnTo>
                <a:lnTo>
                  <a:pt x="0" y="884275"/>
                </a:lnTo>
                <a:lnTo>
                  <a:pt x="0" y="0"/>
                </a:lnTo>
                <a:close/>
              </a:path>
            </a:pathLst>
          </a:custGeom>
          <a:blipFill>
            <a:blip r:embed="rId8"/>
            <a:stretch>
              <a:fillRect l="0" t="0" r="0" b="0"/>
            </a:stretch>
          </a:blipFill>
        </p:spPr>
      </p:sp>
      <p:sp>
        <p:nvSpPr>
          <p:cNvPr name="Freeform 62" id="62"/>
          <p:cNvSpPr/>
          <p:nvPr/>
        </p:nvSpPr>
        <p:spPr>
          <a:xfrm flipH="false" flipV="false" rot="0">
            <a:off x="7675343" y="9235645"/>
            <a:ext cx="1607688" cy="482306"/>
          </a:xfrm>
          <a:custGeom>
            <a:avLst/>
            <a:gdLst/>
            <a:ahLst/>
            <a:cxnLst/>
            <a:rect r="r" b="b" t="t" l="l"/>
            <a:pathLst>
              <a:path h="482306" w="1607688">
                <a:moveTo>
                  <a:pt x="0" y="0"/>
                </a:moveTo>
                <a:lnTo>
                  <a:pt x="1607688" y="0"/>
                </a:lnTo>
                <a:lnTo>
                  <a:pt x="1607688" y="482307"/>
                </a:lnTo>
                <a:lnTo>
                  <a:pt x="0" y="4823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3" id="63">
            <a:hlinkClick r:id="rId12" tooltip="https://www.instagram.com/reel/CWYGVZPp49Q_xYQ8jDGNuewACghfniAPbEq22w0/"/>
          </p:cNvPr>
          <p:cNvSpPr/>
          <p:nvPr/>
        </p:nvSpPr>
        <p:spPr>
          <a:xfrm flipH="false" flipV="false" rot="0">
            <a:off x="11677610" y="8103720"/>
            <a:ext cx="884275" cy="884275"/>
          </a:xfrm>
          <a:custGeom>
            <a:avLst/>
            <a:gdLst/>
            <a:ahLst/>
            <a:cxnLst/>
            <a:rect r="r" b="b" t="t" l="l"/>
            <a:pathLst>
              <a:path h="884275" w="884275">
                <a:moveTo>
                  <a:pt x="0" y="0"/>
                </a:moveTo>
                <a:lnTo>
                  <a:pt x="884275" y="0"/>
                </a:lnTo>
                <a:lnTo>
                  <a:pt x="884275" y="884275"/>
                </a:lnTo>
                <a:lnTo>
                  <a:pt x="0" y="884275"/>
                </a:lnTo>
                <a:lnTo>
                  <a:pt x="0" y="0"/>
                </a:lnTo>
                <a:close/>
              </a:path>
            </a:pathLst>
          </a:custGeom>
          <a:blipFill>
            <a:blip r:embed="rId8"/>
            <a:stretch>
              <a:fillRect l="0" t="0" r="0" b="0"/>
            </a:stretch>
          </a:blipFill>
        </p:spPr>
      </p:sp>
      <p:sp>
        <p:nvSpPr>
          <p:cNvPr name="Freeform 64" id="64"/>
          <p:cNvSpPr/>
          <p:nvPr/>
        </p:nvSpPr>
        <p:spPr>
          <a:xfrm flipH="false" flipV="false" rot="0">
            <a:off x="11315904" y="9235645"/>
            <a:ext cx="1607688" cy="482306"/>
          </a:xfrm>
          <a:custGeom>
            <a:avLst/>
            <a:gdLst/>
            <a:ahLst/>
            <a:cxnLst/>
            <a:rect r="r" b="b" t="t" l="l"/>
            <a:pathLst>
              <a:path h="482306" w="1607688">
                <a:moveTo>
                  <a:pt x="0" y="0"/>
                </a:moveTo>
                <a:lnTo>
                  <a:pt x="1607688" y="0"/>
                </a:lnTo>
                <a:lnTo>
                  <a:pt x="1607688" y="482307"/>
                </a:lnTo>
                <a:lnTo>
                  <a:pt x="0" y="4823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5" id="65"/>
          <p:cNvSpPr/>
          <p:nvPr/>
        </p:nvSpPr>
        <p:spPr>
          <a:xfrm flipH="false" flipV="false" rot="0">
            <a:off x="14956464" y="9235645"/>
            <a:ext cx="1607688" cy="482306"/>
          </a:xfrm>
          <a:custGeom>
            <a:avLst/>
            <a:gdLst/>
            <a:ahLst/>
            <a:cxnLst/>
            <a:rect r="r" b="b" t="t" l="l"/>
            <a:pathLst>
              <a:path h="482306" w="1607688">
                <a:moveTo>
                  <a:pt x="0" y="0"/>
                </a:moveTo>
                <a:lnTo>
                  <a:pt x="1607688" y="0"/>
                </a:lnTo>
                <a:lnTo>
                  <a:pt x="1607688" y="482307"/>
                </a:lnTo>
                <a:lnTo>
                  <a:pt x="0" y="4823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6" id="66">
            <a:hlinkClick r:id="rId13" tooltip="https://www.instagram.com/reel/CXdzuQJpocQ7rdVx8Q8Uphp4lp-T7730R28y3w0/"/>
          </p:cNvPr>
          <p:cNvSpPr/>
          <p:nvPr/>
        </p:nvSpPr>
        <p:spPr>
          <a:xfrm flipH="false" flipV="false" rot="0">
            <a:off x="15318171" y="8103720"/>
            <a:ext cx="884275" cy="884275"/>
          </a:xfrm>
          <a:custGeom>
            <a:avLst/>
            <a:gdLst/>
            <a:ahLst/>
            <a:cxnLst/>
            <a:rect r="r" b="b" t="t" l="l"/>
            <a:pathLst>
              <a:path h="884275" w="884275">
                <a:moveTo>
                  <a:pt x="0" y="0"/>
                </a:moveTo>
                <a:lnTo>
                  <a:pt x="884275" y="0"/>
                </a:lnTo>
                <a:lnTo>
                  <a:pt x="884275" y="884275"/>
                </a:lnTo>
                <a:lnTo>
                  <a:pt x="0" y="884275"/>
                </a:lnTo>
                <a:lnTo>
                  <a:pt x="0" y="0"/>
                </a:lnTo>
                <a:close/>
              </a:path>
            </a:pathLst>
          </a:custGeom>
          <a:blipFill>
            <a:blip r:embed="rId8"/>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39401" y="169862"/>
            <a:ext cx="16160834" cy="734367"/>
            <a:chOff x="0" y="0"/>
            <a:chExt cx="21547778" cy="979155"/>
          </a:xfrm>
        </p:grpSpPr>
        <p:grpSp>
          <p:nvGrpSpPr>
            <p:cNvPr name="Group 3" id="3"/>
            <p:cNvGrpSpPr/>
            <p:nvPr/>
          </p:nvGrpSpPr>
          <p:grpSpPr>
            <a:xfrm rot="0">
              <a:off x="0" y="0"/>
              <a:ext cx="21547778" cy="979155"/>
              <a:chOff x="0" y="0"/>
              <a:chExt cx="8943439" cy="406400"/>
            </a:xfrm>
          </p:grpSpPr>
          <p:sp>
            <p:nvSpPr>
              <p:cNvPr name="Freeform 4" id="4"/>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5" id="5"/>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7" id="7"/>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8" id="8"/>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Experiences</a:t>
              </a:r>
            </a:p>
          </p:txBody>
        </p:sp>
        <p:sp>
          <p:nvSpPr>
            <p:cNvPr name="TextBox 9" id="9"/>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Contact</a:t>
              </a:r>
            </a:p>
          </p:txBody>
        </p:sp>
        <p:sp>
          <p:nvSpPr>
            <p:cNvPr name="TextBox 10" id="10"/>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Skills</a:t>
              </a:r>
            </a:p>
          </p:txBody>
        </p:sp>
        <p:sp>
          <p:nvSpPr>
            <p:cNvPr name="TextBox 11" id="11"/>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Project</a:t>
              </a:r>
            </a:p>
          </p:txBody>
        </p:sp>
        <p:sp>
          <p:nvSpPr>
            <p:cNvPr name="TextBox 12" id="12"/>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13" id="13"/>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Certificate</a:t>
              </a:r>
            </a:p>
          </p:txBody>
        </p:sp>
      </p:grpSp>
      <p:sp>
        <p:nvSpPr>
          <p:cNvPr name="TextBox 14" id="14"/>
          <p:cNvSpPr txBox="true"/>
          <p:nvPr/>
        </p:nvSpPr>
        <p:spPr>
          <a:xfrm rot="0">
            <a:off x="483073" y="1271734"/>
            <a:ext cx="9921428" cy="811540"/>
          </a:xfrm>
          <a:prstGeom prst="rect">
            <a:avLst/>
          </a:prstGeom>
        </p:spPr>
        <p:txBody>
          <a:bodyPr anchor="t" rtlCol="false" tIns="0" lIns="0" bIns="0" rIns="0">
            <a:spAutoFit/>
          </a:bodyPr>
          <a:lstStyle/>
          <a:p>
            <a:pPr algn="l">
              <a:lnSpc>
                <a:spcPts val="6060"/>
              </a:lnSpc>
            </a:pPr>
            <a:r>
              <a:rPr lang="en-US" sz="6000" b="true">
                <a:solidFill>
                  <a:srgbClr val="39251F"/>
                </a:solidFill>
                <a:latin typeface="Bebas Neue Bold"/>
                <a:ea typeface="Bebas Neue Bold"/>
                <a:cs typeface="Bebas Neue Bold"/>
                <a:sym typeface="Bebas Neue Bold"/>
              </a:rPr>
              <a:t>CERTIFICATE</a:t>
            </a:r>
          </a:p>
        </p:txBody>
      </p:sp>
      <p:grpSp>
        <p:nvGrpSpPr>
          <p:cNvPr name="Group 15" id="15"/>
          <p:cNvGrpSpPr/>
          <p:nvPr/>
        </p:nvGrpSpPr>
        <p:grpSpPr>
          <a:xfrm rot="0">
            <a:off x="483073" y="1921034"/>
            <a:ext cx="2968338" cy="4104019"/>
            <a:chOff x="0" y="0"/>
            <a:chExt cx="812800" cy="1123776"/>
          </a:xfrm>
        </p:grpSpPr>
        <p:sp>
          <p:nvSpPr>
            <p:cNvPr name="Freeform 16" id="16"/>
            <p:cNvSpPr/>
            <p:nvPr/>
          </p:nvSpPr>
          <p:spPr>
            <a:xfrm flipH="false" flipV="false" rot="0">
              <a:off x="0" y="0"/>
              <a:ext cx="812800" cy="1123776"/>
            </a:xfrm>
            <a:custGeom>
              <a:avLst/>
              <a:gdLst/>
              <a:ahLst/>
              <a:cxnLst/>
              <a:rect r="r" b="b" t="t" l="l"/>
              <a:pathLst>
                <a:path h="1123776" w="812800">
                  <a:moveTo>
                    <a:pt x="59988" y="0"/>
                  </a:moveTo>
                  <a:lnTo>
                    <a:pt x="752812" y="0"/>
                  </a:lnTo>
                  <a:cubicBezTo>
                    <a:pt x="785943" y="0"/>
                    <a:pt x="812800" y="26857"/>
                    <a:pt x="812800" y="59988"/>
                  </a:cubicBezTo>
                  <a:lnTo>
                    <a:pt x="812800" y="1063788"/>
                  </a:lnTo>
                  <a:cubicBezTo>
                    <a:pt x="812800" y="1096918"/>
                    <a:pt x="785943" y="1123776"/>
                    <a:pt x="752812" y="1123776"/>
                  </a:cubicBezTo>
                  <a:lnTo>
                    <a:pt x="59988" y="1123776"/>
                  </a:lnTo>
                  <a:cubicBezTo>
                    <a:pt x="26857" y="1123776"/>
                    <a:pt x="0" y="1096918"/>
                    <a:pt x="0" y="1063788"/>
                  </a:cubicBezTo>
                  <a:lnTo>
                    <a:pt x="0" y="59988"/>
                  </a:lnTo>
                  <a:cubicBezTo>
                    <a:pt x="0" y="26857"/>
                    <a:pt x="26857" y="0"/>
                    <a:pt x="59988" y="0"/>
                  </a:cubicBezTo>
                  <a:close/>
                </a:path>
              </a:pathLst>
            </a:custGeom>
            <a:blipFill>
              <a:blip r:embed="rId2"/>
              <a:stretch>
                <a:fillRect l="0" t="-227" r="0" b="-227"/>
              </a:stretch>
            </a:blipFill>
            <a:ln w="95250" cap="rnd">
              <a:solidFill>
                <a:srgbClr val="242D4B"/>
              </a:solidFill>
              <a:prstDash val="solid"/>
              <a:round/>
            </a:ln>
          </p:spPr>
        </p:sp>
      </p:grpSp>
      <p:grpSp>
        <p:nvGrpSpPr>
          <p:cNvPr name="Group 17" id="17"/>
          <p:cNvGrpSpPr/>
          <p:nvPr/>
        </p:nvGrpSpPr>
        <p:grpSpPr>
          <a:xfrm rot="0">
            <a:off x="483073" y="6187292"/>
            <a:ext cx="2968338" cy="4104019"/>
            <a:chOff x="0" y="0"/>
            <a:chExt cx="812800" cy="1123776"/>
          </a:xfrm>
        </p:grpSpPr>
        <p:sp>
          <p:nvSpPr>
            <p:cNvPr name="Freeform 18" id="18"/>
            <p:cNvSpPr/>
            <p:nvPr/>
          </p:nvSpPr>
          <p:spPr>
            <a:xfrm flipH="false" flipV="false" rot="0">
              <a:off x="0" y="0"/>
              <a:ext cx="812800" cy="1123776"/>
            </a:xfrm>
            <a:custGeom>
              <a:avLst/>
              <a:gdLst/>
              <a:ahLst/>
              <a:cxnLst/>
              <a:rect r="r" b="b" t="t" l="l"/>
              <a:pathLst>
                <a:path h="1123776" w="812800">
                  <a:moveTo>
                    <a:pt x="59988" y="0"/>
                  </a:moveTo>
                  <a:lnTo>
                    <a:pt x="752812" y="0"/>
                  </a:lnTo>
                  <a:cubicBezTo>
                    <a:pt x="785943" y="0"/>
                    <a:pt x="812800" y="26857"/>
                    <a:pt x="812800" y="59988"/>
                  </a:cubicBezTo>
                  <a:lnTo>
                    <a:pt x="812800" y="1063788"/>
                  </a:lnTo>
                  <a:cubicBezTo>
                    <a:pt x="812800" y="1096918"/>
                    <a:pt x="785943" y="1123776"/>
                    <a:pt x="752812" y="1123776"/>
                  </a:cubicBezTo>
                  <a:lnTo>
                    <a:pt x="59988" y="1123776"/>
                  </a:lnTo>
                  <a:cubicBezTo>
                    <a:pt x="26857" y="1123776"/>
                    <a:pt x="0" y="1096918"/>
                    <a:pt x="0" y="1063788"/>
                  </a:cubicBezTo>
                  <a:lnTo>
                    <a:pt x="0" y="59988"/>
                  </a:lnTo>
                  <a:cubicBezTo>
                    <a:pt x="0" y="26857"/>
                    <a:pt x="26857" y="0"/>
                    <a:pt x="59988" y="0"/>
                  </a:cubicBezTo>
                  <a:close/>
                </a:path>
              </a:pathLst>
            </a:custGeom>
            <a:blipFill>
              <a:blip r:embed="rId3"/>
              <a:stretch>
                <a:fillRect l="-46685" t="0" r="-46685" b="0"/>
              </a:stretch>
            </a:blipFill>
            <a:ln w="95250" cap="rnd">
              <a:solidFill>
                <a:srgbClr val="242D4B"/>
              </a:solidFill>
              <a:prstDash val="solid"/>
              <a:round/>
            </a:ln>
          </p:spPr>
        </p:sp>
      </p:grpSp>
      <p:grpSp>
        <p:nvGrpSpPr>
          <p:cNvPr name="Group 19" id="19"/>
          <p:cNvGrpSpPr/>
          <p:nvPr/>
        </p:nvGrpSpPr>
        <p:grpSpPr>
          <a:xfrm rot="0">
            <a:off x="3959618" y="1921034"/>
            <a:ext cx="2968338" cy="4104019"/>
            <a:chOff x="0" y="0"/>
            <a:chExt cx="812800" cy="1123776"/>
          </a:xfrm>
        </p:grpSpPr>
        <p:sp>
          <p:nvSpPr>
            <p:cNvPr name="Freeform 20" id="20"/>
            <p:cNvSpPr/>
            <p:nvPr/>
          </p:nvSpPr>
          <p:spPr>
            <a:xfrm flipH="false" flipV="false" rot="0">
              <a:off x="0" y="0"/>
              <a:ext cx="812800" cy="1123776"/>
            </a:xfrm>
            <a:custGeom>
              <a:avLst/>
              <a:gdLst/>
              <a:ahLst/>
              <a:cxnLst/>
              <a:rect r="r" b="b" t="t" l="l"/>
              <a:pathLst>
                <a:path h="1123776" w="812800">
                  <a:moveTo>
                    <a:pt x="59988" y="0"/>
                  </a:moveTo>
                  <a:lnTo>
                    <a:pt x="752812" y="0"/>
                  </a:lnTo>
                  <a:cubicBezTo>
                    <a:pt x="785943" y="0"/>
                    <a:pt x="812800" y="26857"/>
                    <a:pt x="812800" y="59988"/>
                  </a:cubicBezTo>
                  <a:lnTo>
                    <a:pt x="812800" y="1063788"/>
                  </a:lnTo>
                  <a:cubicBezTo>
                    <a:pt x="812800" y="1096918"/>
                    <a:pt x="785943" y="1123776"/>
                    <a:pt x="752812" y="1123776"/>
                  </a:cubicBezTo>
                  <a:lnTo>
                    <a:pt x="59988" y="1123776"/>
                  </a:lnTo>
                  <a:cubicBezTo>
                    <a:pt x="26857" y="1123776"/>
                    <a:pt x="0" y="1096918"/>
                    <a:pt x="0" y="1063788"/>
                  </a:cubicBezTo>
                  <a:lnTo>
                    <a:pt x="0" y="59988"/>
                  </a:lnTo>
                  <a:cubicBezTo>
                    <a:pt x="0" y="26857"/>
                    <a:pt x="26857" y="0"/>
                    <a:pt x="59988" y="0"/>
                  </a:cubicBezTo>
                  <a:close/>
                </a:path>
              </a:pathLst>
            </a:custGeom>
            <a:blipFill>
              <a:blip r:embed="rId4"/>
              <a:stretch>
                <a:fillRect l="-50188" t="0" r="-50188" b="0"/>
              </a:stretch>
            </a:blipFill>
            <a:ln w="95250" cap="rnd">
              <a:solidFill>
                <a:srgbClr val="242D4B"/>
              </a:solidFill>
              <a:prstDash val="solid"/>
              <a:round/>
            </a:ln>
          </p:spPr>
        </p:sp>
      </p:grpSp>
      <p:grpSp>
        <p:nvGrpSpPr>
          <p:cNvPr name="Group 21" id="21"/>
          <p:cNvGrpSpPr/>
          <p:nvPr/>
        </p:nvGrpSpPr>
        <p:grpSpPr>
          <a:xfrm rot="0">
            <a:off x="7436163" y="1921034"/>
            <a:ext cx="2968338" cy="4104019"/>
            <a:chOff x="0" y="0"/>
            <a:chExt cx="812800" cy="1123776"/>
          </a:xfrm>
        </p:grpSpPr>
        <p:sp>
          <p:nvSpPr>
            <p:cNvPr name="Freeform 22" id="22"/>
            <p:cNvSpPr/>
            <p:nvPr/>
          </p:nvSpPr>
          <p:spPr>
            <a:xfrm flipH="false" flipV="false" rot="0">
              <a:off x="0" y="0"/>
              <a:ext cx="812800" cy="1123776"/>
            </a:xfrm>
            <a:custGeom>
              <a:avLst/>
              <a:gdLst/>
              <a:ahLst/>
              <a:cxnLst/>
              <a:rect r="r" b="b" t="t" l="l"/>
              <a:pathLst>
                <a:path h="1123776" w="812800">
                  <a:moveTo>
                    <a:pt x="59988" y="0"/>
                  </a:moveTo>
                  <a:lnTo>
                    <a:pt x="752812" y="0"/>
                  </a:lnTo>
                  <a:cubicBezTo>
                    <a:pt x="785943" y="0"/>
                    <a:pt x="812800" y="26857"/>
                    <a:pt x="812800" y="59988"/>
                  </a:cubicBezTo>
                  <a:lnTo>
                    <a:pt x="812800" y="1063788"/>
                  </a:lnTo>
                  <a:cubicBezTo>
                    <a:pt x="812800" y="1096918"/>
                    <a:pt x="785943" y="1123776"/>
                    <a:pt x="752812" y="1123776"/>
                  </a:cubicBezTo>
                  <a:lnTo>
                    <a:pt x="59988" y="1123776"/>
                  </a:lnTo>
                  <a:cubicBezTo>
                    <a:pt x="26857" y="1123776"/>
                    <a:pt x="0" y="1096918"/>
                    <a:pt x="0" y="1063788"/>
                  </a:cubicBezTo>
                  <a:lnTo>
                    <a:pt x="0" y="59988"/>
                  </a:lnTo>
                  <a:cubicBezTo>
                    <a:pt x="0" y="26857"/>
                    <a:pt x="26857" y="0"/>
                    <a:pt x="59988" y="0"/>
                  </a:cubicBezTo>
                  <a:close/>
                </a:path>
              </a:pathLst>
            </a:custGeom>
            <a:blipFill>
              <a:blip r:embed="rId5"/>
              <a:stretch>
                <a:fillRect l="-44698" t="0" r="-44698" b="0"/>
              </a:stretch>
            </a:blipFill>
            <a:ln w="95250" cap="rnd">
              <a:solidFill>
                <a:srgbClr val="242D4B"/>
              </a:solidFill>
              <a:prstDash val="solid"/>
              <a:round/>
            </a:ln>
          </p:spPr>
        </p:sp>
      </p:grpSp>
      <p:grpSp>
        <p:nvGrpSpPr>
          <p:cNvPr name="Group 23" id="23"/>
          <p:cNvGrpSpPr/>
          <p:nvPr/>
        </p:nvGrpSpPr>
        <p:grpSpPr>
          <a:xfrm rot="0">
            <a:off x="10912707" y="1921034"/>
            <a:ext cx="2968338" cy="4104019"/>
            <a:chOff x="0" y="0"/>
            <a:chExt cx="812800" cy="1123776"/>
          </a:xfrm>
        </p:grpSpPr>
        <p:sp>
          <p:nvSpPr>
            <p:cNvPr name="Freeform 24" id="24"/>
            <p:cNvSpPr/>
            <p:nvPr/>
          </p:nvSpPr>
          <p:spPr>
            <a:xfrm flipH="false" flipV="false" rot="0">
              <a:off x="0" y="0"/>
              <a:ext cx="812800" cy="1123776"/>
            </a:xfrm>
            <a:custGeom>
              <a:avLst/>
              <a:gdLst/>
              <a:ahLst/>
              <a:cxnLst/>
              <a:rect r="r" b="b" t="t" l="l"/>
              <a:pathLst>
                <a:path h="1123776" w="812800">
                  <a:moveTo>
                    <a:pt x="59988" y="0"/>
                  </a:moveTo>
                  <a:lnTo>
                    <a:pt x="752812" y="0"/>
                  </a:lnTo>
                  <a:cubicBezTo>
                    <a:pt x="785943" y="0"/>
                    <a:pt x="812800" y="26857"/>
                    <a:pt x="812800" y="59988"/>
                  </a:cubicBezTo>
                  <a:lnTo>
                    <a:pt x="812800" y="1063788"/>
                  </a:lnTo>
                  <a:cubicBezTo>
                    <a:pt x="812800" y="1096918"/>
                    <a:pt x="785943" y="1123776"/>
                    <a:pt x="752812" y="1123776"/>
                  </a:cubicBezTo>
                  <a:lnTo>
                    <a:pt x="59988" y="1123776"/>
                  </a:lnTo>
                  <a:cubicBezTo>
                    <a:pt x="26857" y="1123776"/>
                    <a:pt x="0" y="1096918"/>
                    <a:pt x="0" y="1063788"/>
                  </a:cubicBezTo>
                  <a:lnTo>
                    <a:pt x="0" y="59988"/>
                  </a:lnTo>
                  <a:cubicBezTo>
                    <a:pt x="0" y="26857"/>
                    <a:pt x="26857" y="0"/>
                    <a:pt x="59988" y="0"/>
                  </a:cubicBezTo>
                  <a:close/>
                </a:path>
              </a:pathLst>
            </a:custGeom>
            <a:blipFill>
              <a:blip r:embed="rId6"/>
              <a:stretch>
                <a:fillRect l="0" t="-33135" r="0" b="-33135"/>
              </a:stretch>
            </a:blipFill>
            <a:ln w="95250" cap="rnd">
              <a:solidFill>
                <a:srgbClr val="242D4B"/>
              </a:solidFill>
              <a:prstDash val="solid"/>
              <a:round/>
            </a:ln>
          </p:spPr>
        </p:sp>
      </p:grpSp>
      <p:grpSp>
        <p:nvGrpSpPr>
          <p:cNvPr name="Group 25" id="25"/>
          <p:cNvGrpSpPr/>
          <p:nvPr/>
        </p:nvGrpSpPr>
        <p:grpSpPr>
          <a:xfrm rot="0">
            <a:off x="14389252" y="1921034"/>
            <a:ext cx="2968338" cy="4104019"/>
            <a:chOff x="0" y="0"/>
            <a:chExt cx="812800" cy="1123776"/>
          </a:xfrm>
        </p:grpSpPr>
        <p:sp>
          <p:nvSpPr>
            <p:cNvPr name="Freeform 26" id="26"/>
            <p:cNvSpPr/>
            <p:nvPr/>
          </p:nvSpPr>
          <p:spPr>
            <a:xfrm flipH="false" flipV="false" rot="0">
              <a:off x="0" y="0"/>
              <a:ext cx="812800" cy="1123776"/>
            </a:xfrm>
            <a:custGeom>
              <a:avLst/>
              <a:gdLst/>
              <a:ahLst/>
              <a:cxnLst/>
              <a:rect r="r" b="b" t="t" l="l"/>
              <a:pathLst>
                <a:path h="1123776" w="812800">
                  <a:moveTo>
                    <a:pt x="59988" y="0"/>
                  </a:moveTo>
                  <a:lnTo>
                    <a:pt x="752812" y="0"/>
                  </a:lnTo>
                  <a:cubicBezTo>
                    <a:pt x="785943" y="0"/>
                    <a:pt x="812800" y="26857"/>
                    <a:pt x="812800" y="59988"/>
                  </a:cubicBezTo>
                  <a:lnTo>
                    <a:pt x="812800" y="1063788"/>
                  </a:lnTo>
                  <a:cubicBezTo>
                    <a:pt x="812800" y="1096918"/>
                    <a:pt x="785943" y="1123776"/>
                    <a:pt x="752812" y="1123776"/>
                  </a:cubicBezTo>
                  <a:lnTo>
                    <a:pt x="59988" y="1123776"/>
                  </a:lnTo>
                  <a:cubicBezTo>
                    <a:pt x="26857" y="1123776"/>
                    <a:pt x="0" y="1096918"/>
                    <a:pt x="0" y="1063788"/>
                  </a:cubicBezTo>
                  <a:lnTo>
                    <a:pt x="0" y="59988"/>
                  </a:lnTo>
                  <a:cubicBezTo>
                    <a:pt x="0" y="26857"/>
                    <a:pt x="26857" y="0"/>
                    <a:pt x="59988" y="0"/>
                  </a:cubicBezTo>
                  <a:close/>
                </a:path>
              </a:pathLst>
            </a:custGeom>
            <a:blipFill>
              <a:blip r:embed="rId7"/>
              <a:stretch>
                <a:fillRect l="-47366" t="0" r="-47366" b="0"/>
              </a:stretch>
            </a:blipFill>
            <a:ln w="95250" cap="rnd">
              <a:solidFill>
                <a:srgbClr val="242D4B"/>
              </a:solidFill>
              <a:prstDash val="solid"/>
              <a:round/>
            </a:ln>
          </p:spPr>
        </p:sp>
      </p:grpSp>
      <p:grpSp>
        <p:nvGrpSpPr>
          <p:cNvPr name="Group 27" id="27"/>
          <p:cNvGrpSpPr/>
          <p:nvPr/>
        </p:nvGrpSpPr>
        <p:grpSpPr>
          <a:xfrm rot="0">
            <a:off x="3959618" y="6301277"/>
            <a:ext cx="2968338" cy="4104019"/>
            <a:chOff x="0" y="0"/>
            <a:chExt cx="812800" cy="1123776"/>
          </a:xfrm>
        </p:grpSpPr>
        <p:sp>
          <p:nvSpPr>
            <p:cNvPr name="Freeform 28" id="28"/>
            <p:cNvSpPr/>
            <p:nvPr/>
          </p:nvSpPr>
          <p:spPr>
            <a:xfrm flipH="false" flipV="false" rot="0">
              <a:off x="0" y="0"/>
              <a:ext cx="812800" cy="1123776"/>
            </a:xfrm>
            <a:custGeom>
              <a:avLst/>
              <a:gdLst/>
              <a:ahLst/>
              <a:cxnLst/>
              <a:rect r="r" b="b" t="t" l="l"/>
              <a:pathLst>
                <a:path h="1123776" w="812800">
                  <a:moveTo>
                    <a:pt x="59988" y="0"/>
                  </a:moveTo>
                  <a:lnTo>
                    <a:pt x="752812" y="0"/>
                  </a:lnTo>
                  <a:cubicBezTo>
                    <a:pt x="785943" y="0"/>
                    <a:pt x="812800" y="26857"/>
                    <a:pt x="812800" y="59988"/>
                  </a:cubicBezTo>
                  <a:lnTo>
                    <a:pt x="812800" y="1063788"/>
                  </a:lnTo>
                  <a:cubicBezTo>
                    <a:pt x="812800" y="1096918"/>
                    <a:pt x="785943" y="1123776"/>
                    <a:pt x="752812" y="1123776"/>
                  </a:cubicBezTo>
                  <a:lnTo>
                    <a:pt x="59988" y="1123776"/>
                  </a:lnTo>
                  <a:cubicBezTo>
                    <a:pt x="26857" y="1123776"/>
                    <a:pt x="0" y="1096918"/>
                    <a:pt x="0" y="1063788"/>
                  </a:cubicBezTo>
                  <a:lnTo>
                    <a:pt x="0" y="59988"/>
                  </a:lnTo>
                  <a:cubicBezTo>
                    <a:pt x="0" y="26857"/>
                    <a:pt x="26857" y="0"/>
                    <a:pt x="59988" y="0"/>
                  </a:cubicBezTo>
                  <a:close/>
                </a:path>
              </a:pathLst>
            </a:custGeom>
            <a:blipFill>
              <a:blip r:embed="rId5"/>
              <a:stretch>
                <a:fillRect l="-44580" t="0" r="-44580" b="0"/>
              </a:stretch>
            </a:blipFill>
            <a:ln w="95250" cap="rnd">
              <a:solidFill>
                <a:srgbClr val="242D4B"/>
              </a:solidFill>
              <a:prstDash val="solid"/>
              <a:round/>
            </a:ln>
          </p:spPr>
        </p:sp>
      </p:grpSp>
      <p:grpSp>
        <p:nvGrpSpPr>
          <p:cNvPr name="Group 29" id="29"/>
          <p:cNvGrpSpPr/>
          <p:nvPr/>
        </p:nvGrpSpPr>
        <p:grpSpPr>
          <a:xfrm rot="0">
            <a:off x="7436163" y="6415262"/>
            <a:ext cx="2968338" cy="4104019"/>
            <a:chOff x="0" y="0"/>
            <a:chExt cx="812800" cy="1123776"/>
          </a:xfrm>
        </p:grpSpPr>
        <p:sp>
          <p:nvSpPr>
            <p:cNvPr name="Freeform 30" id="30"/>
            <p:cNvSpPr/>
            <p:nvPr/>
          </p:nvSpPr>
          <p:spPr>
            <a:xfrm flipH="false" flipV="false" rot="0">
              <a:off x="0" y="0"/>
              <a:ext cx="812800" cy="1123776"/>
            </a:xfrm>
            <a:custGeom>
              <a:avLst/>
              <a:gdLst/>
              <a:ahLst/>
              <a:cxnLst/>
              <a:rect r="r" b="b" t="t" l="l"/>
              <a:pathLst>
                <a:path h="1123776" w="812800">
                  <a:moveTo>
                    <a:pt x="59988" y="0"/>
                  </a:moveTo>
                  <a:lnTo>
                    <a:pt x="752812" y="0"/>
                  </a:lnTo>
                  <a:cubicBezTo>
                    <a:pt x="785943" y="0"/>
                    <a:pt x="812800" y="26857"/>
                    <a:pt x="812800" y="59988"/>
                  </a:cubicBezTo>
                  <a:lnTo>
                    <a:pt x="812800" y="1063788"/>
                  </a:lnTo>
                  <a:cubicBezTo>
                    <a:pt x="812800" y="1096918"/>
                    <a:pt x="785943" y="1123776"/>
                    <a:pt x="752812" y="1123776"/>
                  </a:cubicBezTo>
                  <a:lnTo>
                    <a:pt x="59988" y="1123776"/>
                  </a:lnTo>
                  <a:cubicBezTo>
                    <a:pt x="26857" y="1123776"/>
                    <a:pt x="0" y="1096918"/>
                    <a:pt x="0" y="1063788"/>
                  </a:cubicBezTo>
                  <a:lnTo>
                    <a:pt x="0" y="59988"/>
                  </a:lnTo>
                  <a:cubicBezTo>
                    <a:pt x="0" y="26857"/>
                    <a:pt x="26857" y="0"/>
                    <a:pt x="59988" y="0"/>
                  </a:cubicBezTo>
                  <a:close/>
                </a:path>
              </a:pathLst>
            </a:custGeom>
            <a:blipFill>
              <a:blip r:embed="rId8"/>
              <a:stretch>
                <a:fillRect l="-48756" t="0" r="-48756" b="0"/>
              </a:stretch>
            </a:blipFill>
            <a:ln w="95250" cap="rnd">
              <a:solidFill>
                <a:srgbClr val="242D4B"/>
              </a:solidFill>
              <a:prstDash val="solid"/>
              <a:round/>
            </a:ln>
          </p:spPr>
        </p:sp>
      </p:grpSp>
      <p:grpSp>
        <p:nvGrpSpPr>
          <p:cNvPr name="Group 31" id="31"/>
          <p:cNvGrpSpPr/>
          <p:nvPr/>
        </p:nvGrpSpPr>
        <p:grpSpPr>
          <a:xfrm rot="0">
            <a:off x="10912707" y="6529247"/>
            <a:ext cx="2968338" cy="4104019"/>
            <a:chOff x="0" y="0"/>
            <a:chExt cx="812800" cy="1123776"/>
          </a:xfrm>
        </p:grpSpPr>
        <p:sp>
          <p:nvSpPr>
            <p:cNvPr name="Freeform 32" id="32"/>
            <p:cNvSpPr/>
            <p:nvPr/>
          </p:nvSpPr>
          <p:spPr>
            <a:xfrm flipH="false" flipV="false" rot="0">
              <a:off x="0" y="0"/>
              <a:ext cx="812800" cy="1123776"/>
            </a:xfrm>
            <a:custGeom>
              <a:avLst/>
              <a:gdLst/>
              <a:ahLst/>
              <a:cxnLst/>
              <a:rect r="r" b="b" t="t" l="l"/>
              <a:pathLst>
                <a:path h="1123776" w="812800">
                  <a:moveTo>
                    <a:pt x="59988" y="0"/>
                  </a:moveTo>
                  <a:lnTo>
                    <a:pt x="752812" y="0"/>
                  </a:lnTo>
                  <a:cubicBezTo>
                    <a:pt x="785943" y="0"/>
                    <a:pt x="812800" y="26857"/>
                    <a:pt x="812800" y="59988"/>
                  </a:cubicBezTo>
                  <a:lnTo>
                    <a:pt x="812800" y="1063788"/>
                  </a:lnTo>
                  <a:cubicBezTo>
                    <a:pt x="812800" y="1096918"/>
                    <a:pt x="785943" y="1123776"/>
                    <a:pt x="752812" y="1123776"/>
                  </a:cubicBezTo>
                  <a:lnTo>
                    <a:pt x="59988" y="1123776"/>
                  </a:lnTo>
                  <a:cubicBezTo>
                    <a:pt x="26857" y="1123776"/>
                    <a:pt x="0" y="1096918"/>
                    <a:pt x="0" y="1063788"/>
                  </a:cubicBezTo>
                  <a:lnTo>
                    <a:pt x="0" y="59988"/>
                  </a:lnTo>
                  <a:cubicBezTo>
                    <a:pt x="0" y="26857"/>
                    <a:pt x="26857" y="0"/>
                    <a:pt x="59988" y="0"/>
                  </a:cubicBezTo>
                  <a:close/>
                </a:path>
              </a:pathLst>
            </a:custGeom>
            <a:blipFill>
              <a:blip r:embed="rId9"/>
              <a:stretch>
                <a:fillRect l="-46685" t="0" r="-46685" b="0"/>
              </a:stretch>
            </a:blipFill>
            <a:ln w="95250" cap="rnd">
              <a:solidFill>
                <a:srgbClr val="242D4B"/>
              </a:solidFill>
              <a:prstDash val="solid"/>
              <a:round/>
            </a:ln>
          </p:spPr>
        </p:sp>
      </p:grpSp>
      <p:grpSp>
        <p:nvGrpSpPr>
          <p:cNvPr name="Group 33" id="33"/>
          <p:cNvGrpSpPr/>
          <p:nvPr/>
        </p:nvGrpSpPr>
        <p:grpSpPr>
          <a:xfrm rot="0">
            <a:off x="14389252" y="6529247"/>
            <a:ext cx="2968338" cy="4104019"/>
            <a:chOff x="0" y="0"/>
            <a:chExt cx="812800" cy="1123776"/>
          </a:xfrm>
        </p:grpSpPr>
        <p:sp>
          <p:nvSpPr>
            <p:cNvPr name="Freeform 34" id="34"/>
            <p:cNvSpPr/>
            <p:nvPr/>
          </p:nvSpPr>
          <p:spPr>
            <a:xfrm flipH="false" flipV="false" rot="0">
              <a:off x="0" y="0"/>
              <a:ext cx="812800" cy="1123776"/>
            </a:xfrm>
            <a:custGeom>
              <a:avLst/>
              <a:gdLst/>
              <a:ahLst/>
              <a:cxnLst/>
              <a:rect r="r" b="b" t="t" l="l"/>
              <a:pathLst>
                <a:path h="1123776" w="812800">
                  <a:moveTo>
                    <a:pt x="59988" y="0"/>
                  </a:moveTo>
                  <a:lnTo>
                    <a:pt x="752812" y="0"/>
                  </a:lnTo>
                  <a:cubicBezTo>
                    <a:pt x="785943" y="0"/>
                    <a:pt x="812800" y="26857"/>
                    <a:pt x="812800" y="59988"/>
                  </a:cubicBezTo>
                  <a:lnTo>
                    <a:pt x="812800" y="1063788"/>
                  </a:lnTo>
                  <a:cubicBezTo>
                    <a:pt x="812800" y="1096918"/>
                    <a:pt x="785943" y="1123776"/>
                    <a:pt x="752812" y="1123776"/>
                  </a:cubicBezTo>
                  <a:lnTo>
                    <a:pt x="59988" y="1123776"/>
                  </a:lnTo>
                  <a:cubicBezTo>
                    <a:pt x="26857" y="1123776"/>
                    <a:pt x="0" y="1096918"/>
                    <a:pt x="0" y="1063788"/>
                  </a:cubicBezTo>
                  <a:lnTo>
                    <a:pt x="0" y="59988"/>
                  </a:lnTo>
                  <a:cubicBezTo>
                    <a:pt x="0" y="26857"/>
                    <a:pt x="26857" y="0"/>
                    <a:pt x="59988" y="0"/>
                  </a:cubicBezTo>
                  <a:close/>
                </a:path>
              </a:pathLst>
            </a:custGeom>
            <a:blipFill>
              <a:blip r:embed="rId10"/>
              <a:stretch>
                <a:fillRect l="0" t="-1263" r="0" b="-1263"/>
              </a:stretch>
            </a:blipFill>
            <a:ln w="95250" cap="rnd">
              <a:solidFill>
                <a:srgbClr val="242D4B"/>
              </a:solidFill>
              <a:prstDash val="solid"/>
              <a:round/>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5400000">
            <a:off x="14730631" y="1028700"/>
            <a:ext cx="3156638" cy="3156638"/>
            <a:chOff x="0" y="0"/>
            <a:chExt cx="558800" cy="558800"/>
          </a:xfrm>
        </p:grpSpPr>
        <p:sp>
          <p:nvSpPr>
            <p:cNvPr name="Freeform 3" id="3"/>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FFC2C2"/>
            </a:solidFill>
          </p:spPr>
        </p:sp>
        <p:sp>
          <p:nvSpPr>
            <p:cNvPr name="TextBox 4" id="4"/>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5131362" y="-927881"/>
            <a:ext cx="4679197" cy="4679197"/>
            <a:chOff x="0" y="0"/>
            <a:chExt cx="558800" cy="558800"/>
          </a:xfrm>
        </p:grpSpPr>
        <p:sp>
          <p:nvSpPr>
            <p:cNvPr name="Freeform 6" id="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19050" cap="sq">
              <a:solidFill>
                <a:srgbClr val="FFC2C2"/>
              </a:solidFill>
              <a:prstDash val="solid"/>
              <a:miter/>
            </a:ln>
          </p:spPr>
        </p:sp>
        <p:sp>
          <p:nvSpPr>
            <p:cNvPr name="TextBox 7" id="7"/>
            <p:cNvSpPr txBox="true"/>
            <p:nvPr/>
          </p:nvSpPr>
          <p:spPr>
            <a:xfrm>
              <a:off x="127000" y="69850"/>
              <a:ext cx="304800" cy="36195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571028" y="118623"/>
            <a:ext cx="10807082" cy="10381628"/>
          </a:xfrm>
          <a:custGeom>
            <a:avLst/>
            <a:gdLst/>
            <a:ahLst/>
            <a:cxnLst/>
            <a:rect r="r" b="b" t="t" l="l"/>
            <a:pathLst>
              <a:path h="10381628" w="10807082">
                <a:moveTo>
                  <a:pt x="0" y="0"/>
                </a:moveTo>
                <a:lnTo>
                  <a:pt x="10807082" y="0"/>
                </a:lnTo>
                <a:lnTo>
                  <a:pt x="10807082" y="10381628"/>
                </a:lnTo>
                <a:lnTo>
                  <a:pt x="0" y="10381628"/>
                </a:lnTo>
                <a:lnTo>
                  <a:pt x="0" y="0"/>
                </a:lnTo>
                <a:close/>
              </a:path>
            </a:pathLst>
          </a:custGeom>
          <a:blipFill>
            <a:blip r:embed="rId2"/>
            <a:stretch>
              <a:fillRect l="0" t="-28215" r="0" b="-28215"/>
            </a:stretch>
          </a:blipFill>
        </p:spPr>
      </p:sp>
      <p:grpSp>
        <p:nvGrpSpPr>
          <p:cNvPr name="Group 9" id="9"/>
          <p:cNvGrpSpPr/>
          <p:nvPr/>
        </p:nvGrpSpPr>
        <p:grpSpPr>
          <a:xfrm rot="0">
            <a:off x="339401" y="169862"/>
            <a:ext cx="16160834" cy="734367"/>
            <a:chOff x="0" y="0"/>
            <a:chExt cx="21547778" cy="979155"/>
          </a:xfrm>
        </p:grpSpPr>
        <p:grpSp>
          <p:nvGrpSpPr>
            <p:cNvPr name="Group 10" id="10"/>
            <p:cNvGrpSpPr/>
            <p:nvPr/>
          </p:nvGrpSpPr>
          <p:grpSpPr>
            <a:xfrm rot="0">
              <a:off x="0" y="0"/>
              <a:ext cx="21547778" cy="979155"/>
              <a:chOff x="0" y="0"/>
              <a:chExt cx="8943439" cy="406400"/>
            </a:xfrm>
          </p:grpSpPr>
          <p:sp>
            <p:nvSpPr>
              <p:cNvPr name="Freeform 11" id="11"/>
              <p:cNvSpPr/>
              <p:nvPr/>
            </p:nvSpPr>
            <p:spPr>
              <a:xfrm flipH="false" flipV="false" rot="0">
                <a:off x="0" y="0"/>
                <a:ext cx="8943439" cy="406400"/>
              </a:xfrm>
              <a:custGeom>
                <a:avLst/>
                <a:gdLst/>
                <a:ahLst/>
                <a:cxnLst/>
                <a:rect r="r" b="b" t="t" l="l"/>
                <a:pathLst>
                  <a:path h="406400" w="8943439">
                    <a:moveTo>
                      <a:pt x="8740239" y="0"/>
                    </a:moveTo>
                    <a:cubicBezTo>
                      <a:pt x="8852463" y="0"/>
                      <a:pt x="8943439" y="90976"/>
                      <a:pt x="8943439" y="203200"/>
                    </a:cubicBezTo>
                    <a:cubicBezTo>
                      <a:pt x="8943439" y="315424"/>
                      <a:pt x="8852463" y="406400"/>
                      <a:pt x="8740239" y="406400"/>
                    </a:cubicBezTo>
                    <a:lnTo>
                      <a:pt x="203200" y="406400"/>
                    </a:lnTo>
                    <a:cubicBezTo>
                      <a:pt x="90976" y="406400"/>
                      <a:pt x="0" y="315424"/>
                      <a:pt x="0" y="203200"/>
                    </a:cubicBezTo>
                    <a:cubicBezTo>
                      <a:pt x="0" y="90976"/>
                      <a:pt x="90976" y="0"/>
                      <a:pt x="203200" y="0"/>
                    </a:cubicBezTo>
                    <a:close/>
                  </a:path>
                </a:pathLst>
              </a:custGeom>
              <a:solidFill>
                <a:srgbClr val="F5EFE8"/>
              </a:solidFill>
            </p:spPr>
          </p:sp>
          <p:sp>
            <p:nvSpPr>
              <p:cNvPr name="TextBox 12" id="12"/>
              <p:cNvSpPr txBox="true"/>
              <p:nvPr/>
            </p:nvSpPr>
            <p:spPr>
              <a:xfrm>
                <a:off x="0" y="-57150"/>
                <a:ext cx="8943439" cy="463550"/>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About Me</a:t>
              </a:r>
            </a:p>
          </p:txBody>
        </p:sp>
        <p:sp>
          <p:nvSpPr>
            <p:cNvPr name="TextBox 14" id="14"/>
            <p:cNvSpPr txBox="true"/>
            <p:nvPr/>
          </p:nvSpPr>
          <p:spPr>
            <a:xfrm rot="0">
              <a:off x="2262773" y="250394"/>
              <a:ext cx="374215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Education</a:t>
              </a:r>
            </a:p>
          </p:txBody>
        </p:sp>
        <p:sp>
          <p:nvSpPr>
            <p:cNvPr name="TextBox 15" id="15"/>
            <p:cNvSpPr txBox="true"/>
            <p:nvPr/>
          </p:nvSpPr>
          <p:spPr>
            <a:xfrm rot="0">
              <a:off x="6975663"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Experiences</a:t>
              </a:r>
            </a:p>
          </p:txBody>
        </p:sp>
        <p:sp>
          <p:nvSpPr>
            <p:cNvPr name="TextBox 16" id="16"/>
            <p:cNvSpPr txBox="true"/>
            <p:nvPr/>
          </p:nvSpPr>
          <p:spPr>
            <a:xfrm rot="0">
              <a:off x="18608511" y="250394"/>
              <a:ext cx="2939267" cy="440267"/>
            </a:xfrm>
            <a:prstGeom prst="rect">
              <a:avLst/>
            </a:prstGeom>
          </p:spPr>
          <p:txBody>
            <a:bodyPr anchor="t" rtlCol="false" tIns="0" lIns="0" bIns="0" rIns="0">
              <a:spAutoFit/>
            </a:bodyPr>
            <a:lstStyle/>
            <a:p>
              <a:pPr algn="ctr">
                <a:lnSpc>
                  <a:spcPts val="2800"/>
                </a:lnSpc>
              </a:pPr>
              <a:r>
                <a:rPr lang="en-US" sz="2000" b="true">
                  <a:solidFill>
                    <a:srgbClr val="39251F"/>
                  </a:solidFill>
                  <a:latin typeface="Montserrat Bold"/>
                  <a:ea typeface="Montserrat Bold"/>
                  <a:cs typeface="Montserrat Bold"/>
                  <a:sym typeface="Montserrat Bold"/>
                </a:rPr>
                <a:t>Contact</a:t>
              </a:r>
            </a:p>
          </p:txBody>
        </p:sp>
        <p:sp>
          <p:nvSpPr>
            <p:cNvPr name="TextBox 17" id="17"/>
            <p:cNvSpPr txBox="true"/>
            <p:nvPr/>
          </p:nvSpPr>
          <p:spPr>
            <a:xfrm rot="0">
              <a:off x="4535297"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Skills</a:t>
              </a:r>
            </a:p>
          </p:txBody>
        </p:sp>
        <p:sp>
          <p:nvSpPr>
            <p:cNvPr name="TextBox 18" id="18"/>
            <p:cNvSpPr txBox="true"/>
            <p:nvPr/>
          </p:nvSpPr>
          <p:spPr>
            <a:xfrm rot="0">
              <a:off x="13232414"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Project</a:t>
              </a:r>
            </a:p>
          </p:txBody>
        </p:sp>
        <p:sp>
          <p:nvSpPr>
            <p:cNvPr name="TextBox 19" id="19"/>
            <p:cNvSpPr txBox="true"/>
            <p:nvPr/>
          </p:nvSpPr>
          <p:spPr>
            <a:xfrm rot="0">
              <a:off x="10105430"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Organization</a:t>
              </a:r>
            </a:p>
          </p:txBody>
        </p:sp>
        <p:sp>
          <p:nvSpPr>
            <p:cNvPr name="TextBox 20" id="20"/>
            <p:cNvSpPr txBox="true"/>
            <p:nvPr/>
          </p:nvSpPr>
          <p:spPr>
            <a:xfrm rot="0">
              <a:off x="16171681" y="250394"/>
              <a:ext cx="2939267" cy="440267"/>
            </a:xfrm>
            <a:prstGeom prst="rect">
              <a:avLst/>
            </a:prstGeom>
          </p:spPr>
          <p:txBody>
            <a:bodyPr anchor="t" rtlCol="false" tIns="0" lIns="0" bIns="0" rIns="0">
              <a:spAutoFit/>
            </a:bodyPr>
            <a:lstStyle/>
            <a:p>
              <a:pPr algn="ctr">
                <a:lnSpc>
                  <a:spcPts val="2800"/>
                </a:lnSpc>
              </a:pPr>
              <a:r>
                <a:rPr lang="en-US" sz="2000">
                  <a:solidFill>
                    <a:srgbClr val="39251F"/>
                  </a:solidFill>
                  <a:latin typeface="Montserrat"/>
                  <a:ea typeface="Montserrat"/>
                  <a:cs typeface="Montserrat"/>
                  <a:sym typeface="Montserrat"/>
                </a:rPr>
                <a:t>Certificate</a:t>
              </a:r>
            </a:p>
          </p:txBody>
        </p:sp>
      </p:grpSp>
      <p:sp>
        <p:nvSpPr>
          <p:cNvPr name="Freeform 21" id="21"/>
          <p:cNvSpPr/>
          <p:nvPr/>
        </p:nvSpPr>
        <p:spPr>
          <a:xfrm flipH="false" flipV="false" rot="0">
            <a:off x="3528788" y="5922387"/>
            <a:ext cx="589676" cy="454051"/>
          </a:xfrm>
          <a:custGeom>
            <a:avLst/>
            <a:gdLst/>
            <a:ahLst/>
            <a:cxnLst/>
            <a:rect r="r" b="b" t="t" l="l"/>
            <a:pathLst>
              <a:path h="454051" w="589676">
                <a:moveTo>
                  <a:pt x="0" y="0"/>
                </a:moveTo>
                <a:lnTo>
                  <a:pt x="589676" y="0"/>
                </a:lnTo>
                <a:lnTo>
                  <a:pt x="589676" y="454051"/>
                </a:lnTo>
                <a:lnTo>
                  <a:pt x="0" y="454051"/>
                </a:lnTo>
                <a:lnTo>
                  <a:pt x="0" y="0"/>
                </a:lnTo>
                <a:close/>
              </a:path>
            </a:pathLst>
          </a:custGeom>
          <a:blipFill>
            <a:blip r:embed="rId3"/>
            <a:stretch>
              <a:fillRect l="0" t="0" r="0" b="0"/>
            </a:stretch>
          </a:blipFill>
        </p:spPr>
      </p:sp>
      <p:sp>
        <p:nvSpPr>
          <p:cNvPr name="Freeform 22" id="22"/>
          <p:cNvSpPr/>
          <p:nvPr/>
        </p:nvSpPr>
        <p:spPr>
          <a:xfrm flipH="false" flipV="false" rot="0">
            <a:off x="10121356" y="479887"/>
            <a:ext cx="7765913" cy="13223041"/>
          </a:xfrm>
          <a:custGeom>
            <a:avLst/>
            <a:gdLst/>
            <a:ahLst/>
            <a:cxnLst/>
            <a:rect r="r" b="b" t="t" l="l"/>
            <a:pathLst>
              <a:path h="13223041" w="7765913">
                <a:moveTo>
                  <a:pt x="0" y="0"/>
                </a:moveTo>
                <a:lnTo>
                  <a:pt x="7765912" y="0"/>
                </a:lnTo>
                <a:lnTo>
                  <a:pt x="7765912" y="13223041"/>
                </a:lnTo>
                <a:lnTo>
                  <a:pt x="0" y="13223041"/>
                </a:lnTo>
                <a:lnTo>
                  <a:pt x="0" y="0"/>
                </a:lnTo>
                <a:close/>
              </a:path>
            </a:pathLst>
          </a:custGeom>
          <a:blipFill>
            <a:blip r:embed="rId4"/>
            <a:stretch>
              <a:fillRect l="-6614" t="0" r="-6614" b="0"/>
            </a:stretch>
          </a:blipFill>
        </p:spPr>
      </p:sp>
      <p:sp>
        <p:nvSpPr>
          <p:cNvPr name="TextBox 23" id="23"/>
          <p:cNvSpPr txBox="true"/>
          <p:nvPr/>
        </p:nvSpPr>
        <p:spPr>
          <a:xfrm rot="0">
            <a:off x="814164" y="6040592"/>
            <a:ext cx="5885707" cy="471805"/>
          </a:xfrm>
          <a:prstGeom prst="rect">
            <a:avLst/>
          </a:prstGeom>
        </p:spPr>
        <p:txBody>
          <a:bodyPr anchor="t" rtlCol="false" tIns="0" lIns="0" bIns="0" rIns="0">
            <a:spAutoFit/>
          </a:bodyPr>
          <a:lstStyle/>
          <a:p>
            <a:pPr algn="l">
              <a:lnSpc>
                <a:spcPts val="3919"/>
              </a:lnSpc>
            </a:pPr>
            <a:r>
              <a:rPr lang="en-US" sz="2799">
                <a:solidFill>
                  <a:srgbClr val="39251F"/>
                </a:solidFill>
                <a:latin typeface="Montserrat"/>
                <a:ea typeface="Montserrat"/>
                <a:cs typeface="Montserrat"/>
                <a:sym typeface="Montserrat"/>
              </a:rPr>
              <a:t>Let’s</a:t>
            </a:r>
            <a:r>
              <a:rPr lang="en-US" sz="2799">
                <a:solidFill>
                  <a:srgbClr val="39251F"/>
                </a:solidFill>
                <a:latin typeface="Montserrat"/>
                <a:ea typeface="Montserrat"/>
                <a:cs typeface="Montserrat"/>
                <a:sym typeface="Montserrat"/>
              </a:rPr>
              <a:t> Connect</a:t>
            </a:r>
          </a:p>
        </p:txBody>
      </p:sp>
      <p:sp>
        <p:nvSpPr>
          <p:cNvPr name="Freeform 24" id="24"/>
          <p:cNvSpPr/>
          <p:nvPr/>
        </p:nvSpPr>
        <p:spPr>
          <a:xfrm flipH="false" flipV="false" rot="0">
            <a:off x="1161222" y="6746407"/>
            <a:ext cx="807019" cy="690001"/>
          </a:xfrm>
          <a:custGeom>
            <a:avLst/>
            <a:gdLst/>
            <a:ahLst/>
            <a:cxnLst/>
            <a:rect r="r" b="b" t="t" l="l"/>
            <a:pathLst>
              <a:path h="690001" w="807019">
                <a:moveTo>
                  <a:pt x="0" y="0"/>
                </a:moveTo>
                <a:lnTo>
                  <a:pt x="807019" y="0"/>
                </a:lnTo>
                <a:lnTo>
                  <a:pt x="807019" y="690001"/>
                </a:lnTo>
                <a:lnTo>
                  <a:pt x="0" y="6900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5" id="25"/>
          <p:cNvSpPr txBox="true"/>
          <p:nvPr/>
        </p:nvSpPr>
        <p:spPr>
          <a:xfrm rot="0">
            <a:off x="2041204" y="6935515"/>
            <a:ext cx="4300445" cy="339725"/>
          </a:xfrm>
          <a:prstGeom prst="rect">
            <a:avLst/>
          </a:prstGeom>
        </p:spPr>
        <p:txBody>
          <a:bodyPr anchor="t" rtlCol="false" tIns="0" lIns="0" bIns="0" rIns="0">
            <a:spAutoFit/>
          </a:bodyPr>
          <a:lstStyle/>
          <a:p>
            <a:pPr algn="just">
              <a:lnSpc>
                <a:spcPts val="2800"/>
              </a:lnSpc>
            </a:pPr>
            <a:r>
              <a:rPr lang="en-US" sz="2000">
                <a:solidFill>
                  <a:srgbClr val="39251F"/>
                </a:solidFill>
                <a:latin typeface="Montserrat"/>
                <a:ea typeface="Montserrat"/>
                <a:cs typeface="Montserrat"/>
                <a:sym typeface="Montserrat"/>
              </a:rPr>
              <a:t>linkedin.com/in/-fhahimatung </a:t>
            </a:r>
          </a:p>
        </p:txBody>
      </p:sp>
      <p:sp>
        <p:nvSpPr>
          <p:cNvPr name="Freeform 26" id="26"/>
          <p:cNvSpPr/>
          <p:nvPr/>
        </p:nvSpPr>
        <p:spPr>
          <a:xfrm flipH="false" flipV="false" rot="0">
            <a:off x="1074460" y="7659955"/>
            <a:ext cx="807019" cy="807019"/>
          </a:xfrm>
          <a:custGeom>
            <a:avLst/>
            <a:gdLst/>
            <a:ahLst/>
            <a:cxnLst/>
            <a:rect r="r" b="b" t="t" l="l"/>
            <a:pathLst>
              <a:path h="807019" w="807019">
                <a:moveTo>
                  <a:pt x="0" y="0"/>
                </a:moveTo>
                <a:lnTo>
                  <a:pt x="807019" y="0"/>
                </a:lnTo>
                <a:lnTo>
                  <a:pt x="807019" y="807019"/>
                </a:lnTo>
                <a:lnTo>
                  <a:pt x="0" y="807019"/>
                </a:lnTo>
                <a:lnTo>
                  <a:pt x="0" y="0"/>
                </a:lnTo>
                <a:close/>
              </a:path>
            </a:pathLst>
          </a:custGeom>
          <a:blipFill>
            <a:blip r:embed="rId7"/>
            <a:stretch>
              <a:fillRect l="0" t="0" r="0" b="0"/>
            </a:stretch>
          </a:blipFill>
        </p:spPr>
      </p:sp>
      <p:sp>
        <p:nvSpPr>
          <p:cNvPr name="Freeform 27" id="27"/>
          <p:cNvSpPr/>
          <p:nvPr/>
        </p:nvSpPr>
        <p:spPr>
          <a:xfrm flipH="false" flipV="false" rot="0">
            <a:off x="1161222" y="8624805"/>
            <a:ext cx="633495" cy="633495"/>
          </a:xfrm>
          <a:custGeom>
            <a:avLst/>
            <a:gdLst/>
            <a:ahLst/>
            <a:cxnLst/>
            <a:rect r="r" b="b" t="t" l="l"/>
            <a:pathLst>
              <a:path h="633495" w="633495">
                <a:moveTo>
                  <a:pt x="0" y="0"/>
                </a:moveTo>
                <a:lnTo>
                  <a:pt x="633495" y="0"/>
                </a:lnTo>
                <a:lnTo>
                  <a:pt x="633495" y="633495"/>
                </a:lnTo>
                <a:lnTo>
                  <a:pt x="0" y="633495"/>
                </a:lnTo>
                <a:lnTo>
                  <a:pt x="0" y="0"/>
                </a:lnTo>
                <a:close/>
              </a:path>
            </a:pathLst>
          </a:custGeom>
          <a:blipFill>
            <a:blip r:embed="rId8"/>
            <a:stretch>
              <a:fillRect l="0" t="0" r="0" b="0"/>
            </a:stretch>
          </a:blipFill>
        </p:spPr>
      </p:sp>
      <p:sp>
        <p:nvSpPr>
          <p:cNvPr name="TextBox 28" id="28"/>
          <p:cNvSpPr txBox="true"/>
          <p:nvPr/>
        </p:nvSpPr>
        <p:spPr>
          <a:xfrm rot="0">
            <a:off x="1968241" y="7874552"/>
            <a:ext cx="4300445" cy="339725"/>
          </a:xfrm>
          <a:prstGeom prst="rect">
            <a:avLst/>
          </a:prstGeom>
        </p:spPr>
        <p:txBody>
          <a:bodyPr anchor="t" rtlCol="false" tIns="0" lIns="0" bIns="0" rIns="0">
            <a:spAutoFit/>
          </a:bodyPr>
          <a:lstStyle/>
          <a:p>
            <a:pPr algn="just">
              <a:lnSpc>
                <a:spcPts val="2800"/>
              </a:lnSpc>
            </a:pPr>
            <a:r>
              <a:rPr lang="en-US" sz="2000">
                <a:solidFill>
                  <a:srgbClr val="39251F"/>
                </a:solidFill>
                <a:latin typeface="Montserrat"/>
                <a:ea typeface="Montserrat"/>
                <a:cs typeface="Montserrat"/>
                <a:sym typeface="Montserrat"/>
              </a:rPr>
              <a:t>+62 815 4349 6763</a:t>
            </a:r>
          </a:p>
        </p:txBody>
      </p:sp>
      <p:sp>
        <p:nvSpPr>
          <p:cNvPr name="TextBox 29" id="29"/>
          <p:cNvSpPr txBox="true"/>
          <p:nvPr/>
        </p:nvSpPr>
        <p:spPr>
          <a:xfrm rot="0">
            <a:off x="2041204" y="8813884"/>
            <a:ext cx="4300445" cy="339725"/>
          </a:xfrm>
          <a:prstGeom prst="rect">
            <a:avLst/>
          </a:prstGeom>
        </p:spPr>
        <p:txBody>
          <a:bodyPr anchor="t" rtlCol="false" tIns="0" lIns="0" bIns="0" rIns="0">
            <a:spAutoFit/>
          </a:bodyPr>
          <a:lstStyle/>
          <a:p>
            <a:pPr algn="just">
              <a:lnSpc>
                <a:spcPts val="2800"/>
              </a:lnSpc>
            </a:pPr>
            <a:r>
              <a:rPr lang="en-US" sz="2000">
                <a:solidFill>
                  <a:srgbClr val="39251F"/>
                </a:solidFill>
                <a:latin typeface="Montserrat"/>
                <a:ea typeface="Montserrat"/>
                <a:cs typeface="Montserrat"/>
                <a:sym typeface="Montserrat"/>
              </a:rPr>
              <a:t>f</a:t>
            </a:r>
            <a:r>
              <a:rPr lang="en-US" sz="2000">
                <a:solidFill>
                  <a:srgbClr val="39251F"/>
                </a:solidFill>
                <a:latin typeface="Montserrat"/>
                <a:ea typeface="Montserrat"/>
                <a:cs typeface="Montserrat"/>
                <a:sym typeface="Montserrat"/>
              </a:rPr>
              <a:t>hahimatung19@gmail.com</a:t>
            </a:r>
          </a:p>
        </p:txBody>
      </p:sp>
      <p:sp>
        <p:nvSpPr>
          <p:cNvPr name="TextBox 30" id="30"/>
          <p:cNvSpPr txBox="true"/>
          <p:nvPr/>
        </p:nvSpPr>
        <p:spPr>
          <a:xfrm rot="0">
            <a:off x="3156986" y="2585504"/>
            <a:ext cx="5141342" cy="2045985"/>
          </a:xfrm>
          <a:prstGeom prst="rect">
            <a:avLst/>
          </a:prstGeom>
        </p:spPr>
        <p:txBody>
          <a:bodyPr anchor="t" rtlCol="false" tIns="0" lIns="0" bIns="0" rIns="0">
            <a:spAutoFit/>
          </a:bodyPr>
          <a:lstStyle/>
          <a:p>
            <a:pPr algn="l" marL="0" indent="0" lvl="0">
              <a:lnSpc>
                <a:spcPts val="10000"/>
              </a:lnSpc>
            </a:pPr>
            <a:r>
              <a:rPr lang="en-US" sz="18869">
                <a:solidFill>
                  <a:srgbClr val="FAA1D4"/>
                </a:solidFill>
                <a:latin typeface="Impact"/>
                <a:ea typeface="Impact"/>
                <a:cs typeface="Impact"/>
                <a:sym typeface="Impact"/>
              </a:rPr>
              <a:t>LET’S</a:t>
            </a:r>
          </a:p>
        </p:txBody>
      </p:sp>
      <p:sp>
        <p:nvSpPr>
          <p:cNvPr name="TextBox 31" id="31"/>
          <p:cNvSpPr txBox="true"/>
          <p:nvPr/>
        </p:nvSpPr>
        <p:spPr>
          <a:xfrm rot="0">
            <a:off x="6082359" y="498528"/>
            <a:ext cx="6010133" cy="3419981"/>
          </a:xfrm>
          <a:prstGeom prst="rect">
            <a:avLst/>
          </a:prstGeom>
        </p:spPr>
        <p:txBody>
          <a:bodyPr anchor="t" rtlCol="false" tIns="0" lIns="0" bIns="0" rIns="0">
            <a:spAutoFit/>
          </a:bodyPr>
          <a:lstStyle/>
          <a:p>
            <a:pPr algn="ctr">
              <a:lnSpc>
                <a:spcPts val="27835"/>
              </a:lnSpc>
            </a:pPr>
            <a:r>
              <a:rPr lang="en-US" sz="19882">
                <a:solidFill>
                  <a:srgbClr val="FFFFFF"/>
                </a:solidFill>
                <a:latin typeface="Buongiorno Rastellino"/>
                <a:ea typeface="Buongiorno Rastellino"/>
                <a:cs typeface="Buongiorno Rastellino"/>
                <a:sym typeface="Buongiorno Rastellino"/>
              </a:rPr>
              <a:t>Work</a:t>
            </a:r>
          </a:p>
        </p:txBody>
      </p:sp>
      <p:sp>
        <p:nvSpPr>
          <p:cNvPr name="TextBox 32" id="32"/>
          <p:cNvSpPr txBox="true"/>
          <p:nvPr/>
        </p:nvSpPr>
        <p:spPr>
          <a:xfrm rot="0">
            <a:off x="3156986" y="4617990"/>
            <a:ext cx="10525665" cy="2128417"/>
          </a:xfrm>
          <a:prstGeom prst="rect">
            <a:avLst/>
          </a:prstGeom>
        </p:spPr>
        <p:txBody>
          <a:bodyPr anchor="t" rtlCol="false" tIns="0" lIns="0" bIns="0" rIns="0">
            <a:spAutoFit/>
          </a:bodyPr>
          <a:lstStyle/>
          <a:p>
            <a:pPr algn="l" marL="0" indent="0" lvl="0">
              <a:lnSpc>
                <a:spcPts val="10453"/>
              </a:lnSpc>
            </a:pPr>
            <a:r>
              <a:rPr lang="en-US" sz="19723">
                <a:solidFill>
                  <a:srgbClr val="FAA1D4"/>
                </a:solidFill>
                <a:latin typeface="Impact"/>
                <a:ea typeface="Impact"/>
                <a:cs typeface="Impact"/>
                <a:sym typeface="Impact"/>
              </a:rPr>
              <a:t>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DAHXzq42_fw</dc:identifier>
  <dcterms:modified xsi:type="dcterms:W3CDTF">2011-08-01T06:04:30Z</dcterms:modified>
  <cp:revision>1</cp:revision>
  <dc:title>Portopolio Fahima</dc:title>
</cp:coreProperties>
</file>